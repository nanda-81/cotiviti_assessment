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ndakishore Nellutla" userId="c96c1e77273f79c5" providerId="LiveId" clId="{EC676FE4-6C73-4B7E-8C09-A77AC97BC21E}"/>
    <pc:docChg chg="undo custSel modSld">
      <pc:chgData name="Nandakishore Nellutla" userId="c96c1e77273f79c5" providerId="LiveId" clId="{EC676FE4-6C73-4B7E-8C09-A77AC97BC21E}" dt="2026-07-04T10:58:51.507" v="161" actId="20577"/>
      <pc:docMkLst>
        <pc:docMk/>
      </pc:docMkLst>
      <pc:sldChg chg="modSp mod">
        <pc:chgData name="Nandakishore Nellutla" userId="c96c1e77273f79c5" providerId="LiveId" clId="{EC676FE4-6C73-4B7E-8C09-A77AC97BC21E}" dt="2026-07-04T10:58:51.507" v="161" actId="20577"/>
        <pc:sldMkLst>
          <pc:docMk/>
          <pc:sldMk cId="0" sldId="256"/>
        </pc:sldMkLst>
        <pc:spChg chg="mod">
          <ac:chgData name="Nandakishore Nellutla" userId="c96c1e77273f79c5" providerId="LiveId" clId="{EC676FE4-6C73-4B7E-8C09-A77AC97BC21E}" dt="2026-07-04T10:58:21.968" v="134" actId="20577"/>
          <ac:spMkLst>
            <pc:docMk/>
            <pc:sldMk cId="0" sldId="256"/>
            <ac:spMk id="6" creationId="{00000000-0000-0000-0000-000000000000}"/>
          </ac:spMkLst>
        </pc:spChg>
        <pc:spChg chg="mod">
          <ac:chgData name="Nandakishore Nellutla" userId="c96c1e77273f79c5" providerId="LiveId" clId="{EC676FE4-6C73-4B7E-8C09-A77AC97BC21E}" dt="2026-07-04T10:30:03.826" v="25" actId="20577"/>
          <ac:spMkLst>
            <pc:docMk/>
            <pc:sldMk cId="0" sldId="256"/>
            <ac:spMk id="10" creationId="{00000000-0000-0000-0000-000000000000}"/>
          </ac:spMkLst>
        </pc:spChg>
        <pc:spChg chg="mod">
          <ac:chgData name="Nandakishore Nellutla" userId="c96c1e77273f79c5" providerId="LiveId" clId="{EC676FE4-6C73-4B7E-8C09-A77AC97BC21E}" dt="2026-07-04T10:58:51.507" v="161" actId="20577"/>
          <ac:spMkLst>
            <pc:docMk/>
            <pc:sldMk cId="0" sldId="256"/>
            <ac:spMk id="12" creationId="{00000000-0000-0000-0000-000000000000}"/>
          </ac:spMkLst>
        </pc:spChg>
      </pc:sldChg>
      <pc:sldChg chg="modSp mod">
        <pc:chgData name="Nandakishore Nellutla" userId="c96c1e77273f79c5" providerId="LiveId" clId="{EC676FE4-6C73-4B7E-8C09-A77AC97BC21E}" dt="2026-07-04T10:36:58.765" v="132" actId="404"/>
        <pc:sldMkLst>
          <pc:docMk/>
          <pc:sldMk cId="0" sldId="257"/>
        </pc:sldMkLst>
        <pc:spChg chg="mod">
          <ac:chgData name="Nandakishore Nellutla" userId="c96c1e77273f79c5" providerId="LiveId" clId="{EC676FE4-6C73-4B7E-8C09-A77AC97BC21E}" dt="2026-07-04T10:36:36.342" v="126" actId="255"/>
          <ac:spMkLst>
            <pc:docMk/>
            <pc:sldMk cId="0" sldId="257"/>
            <ac:spMk id="3" creationId="{00000000-0000-0000-0000-000000000000}"/>
          </ac:spMkLst>
        </pc:spChg>
        <pc:spChg chg="mod">
          <ac:chgData name="Nandakishore Nellutla" userId="c96c1e77273f79c5" providerId="LiveId" clId="{EC676FE4-6C73-4B7E-8C09-A77AC97BC21E}" dt="2026-07-04T10:36:30.203" v="125" actId="255"/>
          <ac:spMkLst>
            <pc:docMk/>
            <pc:sldMk cId="0" sldId="257"/>
            <ac:spMk id="5" creationId="{00000000-0000-0000-0000-000000000000}"/>
          </ac:spMkLst>
        </pc:spChg>
        <pc:spChg chg="mod">
          <ac:chgData name="Nandakishore Nellutla" userId="c96c1e77273f79c5" providerId="LiveId" clId="{EC676FE4-6C73-4B7E-8C09-A77AC97BC21E}" dt="2026-07-04T10:36:30.203" v="125" actId="255"/>
          <ac:spMkLst>
            <pc:docMk/>
            <pc:sldMk cId="0" sldId="257"/>
            <ac:spMk id="7" creationId="{00000000-0000-0000-0000-000000000000}"/>
          </ac:spMkLst>
        </pc:spChg>
        <pc:spChg chg="mod">
          <ac:chgData name="Nandakishore Nellutla" userId="c96c1e77273f79c5" providerId="LiveId" clId="{EC676FE4-6C73-4B7E-8C09-A77AC97BC21E}" dt="2026-07-04T10:36:58.765" v="132" actId="404"/>
          <ac:spMkLst>
            <pc:docMk/>
            <pc:sldMk cId="0" sldId="257"/>
            <ac:spMk id="9" creationId="{00000000-0000-0000-0000-000000000000}"/>
          </ac:spMkLst>
        </pc:spChg>
        <pc:spChg chg="mod">
          <ac:chgData name="Nandakishore Nellutla" userId="c96c1e77273f79c5" providerId="LiveId" clId="{EC676FE4-6C73-4B7E-8C09-A77AC97BC21E}" dt="2026-07-04T10:36:30.203" v="125" actId="255"/>
          <ac:spMkLst>
            <pc:docMk/>
            <pc:sldMk cId="0" sldId="257"/>
            <ac:spMk id="10" creationId="{00000000-0000-0000-0000-000000000000}"/>
          </ac:spMkLst>
        </pc:spChg>
        <pc:spChg chg="mod">
          <ac:chgData name="Nandakishore Nellutla" userId="c96c1e77273f79c5" providerId="LiveId" clId="{EC676FE4-6C73-4B7E-8C09-A77AC97BC21E}" dt="2026-07-04T10:36:58.294" v="131" actId="404"/>
          <ac:spMkLst>
            <pc:docMk/>
            <pc:sldMk cId="0" sldId="257"/>
            <ac:spMk id="13" creationId="{00000000-0000-0000-0000-000000000000}"/>
          </ac:spMkLst>
        </pc:spChg>
        <pc:spChg chg="mod">
          <ac:chgData name="Nandakishore Nellutla" userId="c96c1e77273f79c5" providerId="LiveId" clId="{EC676FE4-6C73-4B7E-8C09-A77AC97BC21E}" dt="2026-07-04T10:36:57.914" v="130" actId="404"/>
          <ac:spMkLst>
            <pc:docMk/>
            <pc:sldMk cId="0" sldId="257"/>
            <ac:spMk id="17" creationId="{00000000-0000-0000-0000-000000000000}"/>
          </ac:spMkLst>
        </pc:spChg>
        <pc:spChg chg="mod">
          <ac:chgData name="Nandakishore Nellutla" userId="c96c1e77273f79c5" providerId="LiveId" clId="{EC676FE4-6C73-4B7E-8C09-A77AC97BC21E}" dt="2026-07-04T10:36:30.203" v="125" actId="255"/>
          <ac:spMkLst>
            <pc:docMk/>
            <pc:sldMk cId="0" sldId="257"/>
            <ac:spMk id="20" creationId="{00000000-0000-0000-0000-000000000000}"/>
          </ac:spMkLst>
        </pc:spChg>
        <pc:spChg chg="mod">
          <ac:chgData name="Nandakishore Nellutla" userId="c96c1e77273f79c5" providerId="LiveId" clId="{EC676FE4-6C73-4B7E-8C09-A77AC97BC21E}" dt="2026-07-04T10:36:30.203" v="125" actId="255"/>
          <ac:spMkLst>
            <pc:docMk/>
            <pc:sldMk cId="0" sldId="257"/>
            <ac:spMk id="22" creationId="{00000000-0000-0000-0000-000000000000}"/>
          </ac:spMkLst>
        </pc:spChg>
        <pc:spChg chg="mod">
          <ac:chgData name="Nandakishore Nellutla" userId="c96c1e77273f79c5" providerId="LiveId" clId="{EC676FE4-6C73-4B7E-8C09-A77AC97BC21E}" dt="2026-07-04T10:36:30.203" v="125" actId="255"/>
          <ac:spMkLst>
            <pc:docMk/>
            <pc:sldMk cId="0" sldId="257"/>
            <ac:spMk id="24" creationId="{00000000-0000-0000-0000-000000000000}"/>
          </ac:spMkLst>
        </pc:spChg>
        <pc:spChg chg="mod">
          <ac:chgData name="Nandakishore Nellutla" userId="c96c1e77273f79c5" providerId="LiveId" clId="{EC676FE4-6C73-4B7E-8C09-A77AC97BC21E}" dt="2026-07-04T10:36:30.203" v="125" actId="255"/>
          <ac:spMkLst>
            <pc:docMk/>
            <pc:sldMk cId="0" sldId="257"/>
            <ac:spMk id="26" creationId="{00000000-0000-0000-0000-000000000000}"/>
          </ac:spMkLst>
        </pc:spChg>
        <pc:spChg chg="mod">
          <ac:chgData name="Nandakishore Nellutla" userId="c96c1e77273f79c5" providerId="LiveId" clId="{EC676FE4-6C73-4B7E-8C09-A77AC97BC21E}" dt="2026-07-04T10:36:30.203" v="125" actId="255"/>
          <ac:spMkLst>
            <pc:docMk/>
            <pc:sldMk cId="0" sldId="257"/>
            <ac:spMk id="27" creationId="{00000000-0000-0000-0000-000000000000}"/>
          </ac:spMkLst>
        </pc:spChg>
        <pc:spChg chg="mod">
          <ac:chgData name="Nandakishore Nellutla" userId="c96c1e77273f79c5" providerId="LiveId" clId="{EC676FE4-6C73-4B7E-8C09-A77AC97BC21E}" dt="2026-07-04T10:36:30.203" v="125" actId="255"/>
          <ac:spMkLst>
            <pc:docMk/>
            <pc:sldMk cId="0" sldId="257"/>
            <ac:spMk id="29" creationId="{00000000-0000-0000-0000-000000000000}"/>
          </ac:spMkLst>
        </pc:spChg>
      </pc:sldChg>
      <pc:sldChg chg="modSp mod">
        <pc:chgData name="Nandakishore Nellutla" userId="c96c1e77273f79c5" providerId="LiveId" clId="{EC676FE4-6C73-4B7E-8C09-A77AC97BC21E}" dt="2026-07-04T10:36:15.555" v="124" actId="255"/>
        <pc:sldMkLst>
          <pc:docMk/>
          <pc:sldMk cId="0" sldId="258"/>
        </pc:sldMkLst>
        <pc:spChg chg="mod">
          <ac:chgData name="Nandakishore Nellutla" userId="c96c1e77273f79c5" providerId="LiveId" clId="{EC676FE4-6C73-4B7E-8C09-A77AC97BC21E}" dt="2026-07-04T10:35:39.141" v="119" actId="255"/>
          <ac:spMkLst>
            <pc:docMk/>
            <pc:sldMk cId="0" sldId="258"/>
            <ac:spMk id="2" creationId="{00000000-0000-0000-0000-000000000000}"/>
          </ac:spMkLst>
        </pc:spChg>
        <pc:spChg chg="mod">
          <ac:chgData name="Nandakishore Nellutla" userId="c96c1e77273f79c5" providerId="LiveId" clId="{EC676FE4-6C73-4B7E-8C09-A77AC97BC21E}" dt="2026-07-04T10:36:15.555" v="124" actId="255"/>
          <ac:spMkLst>
            <pc:docMk/>
            <pc:sldMk cId="0" sldId="258"/>
            <ac:spMk id="3" creationId="{00000000-0000-0000-0000-000000000000}"/>
          </ac:spMkLst>
        </pc:spChg>
        <pc:spChg chg="mod">
          <ac:chgData name="Nandakishore Nellutla" userId="c96c1e77273f79c5" providerId="LiveId" clId="{EC676FE4-6C73-4B7E-8C09-A77AC97BC21E}" dt="2026-07-04T10:36:11.667" v="123" actId="255"/>
          <ac:spMkLst>
            <pc:docMk/>
            <pc:sldMk cId="0" sldId="258"/>
            <ac:spMk id="4" creationId="{00000000-0000-0000-0000-000000000000}"/>
          </ac:spMkLst>
        </pc:spChg>
        <pc:spChg chg="mod">
          <ac:chgData name="Nandakishore Nellutla" userId="c96c1e77273f79c5" providerId="LiveId" clId="{EC676FE4-6C73-4B7E-8C09-A77AC97BC21E}" dt="2026-07-04T10:35:39.141" v="119" actId="255"/>
          <ac:spMkLst>
            <pc:docMk/>
            <pc:sldMk cId="0" sldId="258"/>
            <ac:spMk id="6" creationId="{00000000-0000-0000-0000-000000000000}"/>
          </ac:spMkLst>
        </pc:spChg>
        <pc:spChg chg="mod">
          <ac:chgData name="Nandakishore Nellutla" userId="c96c1e77273f79c5" providerId="LiveId" clId="{EC676FE4-6C73-4B7E-8C09-A77AC97BC21E}" dt="2026-07-04T10:35:52.371" v="120" actId="255"/>
          <ac:spMkLst>
            <pc:docMk/>
            <pc:sldMk cId="0" sldId="258"/>
            <ac:spMk id="7" creationId="{00000000-0000-0000-0000-000000000000}"/>
          </ac:spMkLst>
        </pc:spChg>
        <pc:spChg chg="mod">
          <ac:chgData name="Nandakishore Nellutla" userId="c96c1e77273f79c5" providerId="LiveId" clId="{EC676FE4-6C73-4B7E-8C09-A77AC97BC21E}" dt="2026-07-04T10:35:57.700" v="121" actId="1076"/>
          <ac:spMkLst>
            <pc:docMk/>
            <pc:sldMk cId="0" sldId="258"/>
            <ac:spMk id="8" creationId="{00000000-0000-0000-0000-000000000000}"/>
          </ac:spMkLst>
        </pc:spChg>
        <pc:spChg chg="mod">
          <ac:chgData name="Nandakishore Nellutla" userId="c96c1e77273f79c5" providerId="LiveId" clId="{EC676FE4-6C73-4B7E-8C09-A77AC97BC21E}" dt="2026-07-04T10:36:04.353" v="122" actId="1076"/>
          <ac:spMkLst>
            <pc:docMk/>
            <pc:sldMk cId="0" sldId="258"/>
            <ac:spMk id="9" creationId="{00000000-0000-0000-0000-000000000000}"/>
          </ac:spMkLst>
        </pc:spChg>
        <pc:spChg chg="mod">
          <ac:chgData name="Nandakishore Nellutla" userId="c96c1e77273f79c5" providerId="LiveId" clId="{EC676FE4-6C73-4B7E-8C09-A77AC97BC21E}" dt="2026-07-04T10:35:39.141" v="119" actId="255"/>
          <ac:spMkLst>
            <pc:docMk/>
            <pc:sldMk cId="0" sldId="258"/>
            <ac:spMk id="10" creationId="{00000000-0000-0000-0000-000000000000}"/>
          </ac:spMkLst>
        </pc:spChg>
        <pc:spChg chg="mod">
          <ac:chgData name="Nandakishore Nellutla" userId="c96c1e77273f79c5" providerId="LiveId" clId="{EC676FE4-6C73-4B7E-8C09-A77AC97BC21E}" dt="2026-07-04T10:35:39.141" v="119" actId="255"/>
          <ac:spMkLst>
            <pc:docMk/>
            <pc:sldMk cId="0" sldId="258"/>
            <ac:spMk id="13" creationId="{00000000-0000-0000-0000-000000000000}"/>
          </ac:spMkLst>
        </pc:spChg>
        <pc:spChg chg="mod">
          <ac:chgData name="Nandakishore Nellutla" userId="c96c1e77273f79c5" providerId="LiveId" clId="{EC676FE4-6C73-4B7E-8C09-A77AC97BC21E}" dt="2026-07-04T10:35:39.141" v="119" actId="255"/>
          <ac:spMkLst>
            <pc:docMk/>
            <pc:sldMk cId="0" sldId="258"/>
            <ac:spMk id="16" creationId="{00000000-0000-0000-0000-000000000000}"/>
          </ac:spMkLst>
        </pc:spChg>
        <pc:spChg chg="mod">
          <ac:chgData name="Nandakishore Nellutla" userId="c96c1e77273f79c5" providerId="LiveId" clId="{EC676FE4-6C73-4B7E-8C09-A77AC97BC21E}" dt="2026-07-04T10:35:39.141" v="119" actId="255"/>
          <ac:spMkLst>
            <pc:docMk/>
            <pc:sldMk cId="0" sldId="258"/>
            <ac:spMk id="17" creationId="{00000000-0000-0000-0000-000000000000}"/>
          </ac:spMkLst>
        </pc:spChg>
        <pc:spChg chg="mod">
          <ac:chgData name="Nandakishore Nellutla" userId="c96c1e77273f79c5" providerId="LiveId" clId="{EC676FE4-6C73-4B7E-8C09-A77AC97BC21E}" dt="2026-07-04T10:35:39.141" v="119" actId="255"/>
          <ac:spMkLst>
            <pc:docMk/>
            <pc:sldMk cId="0" sldId="258"/>
            <ac:spMk id="19" creationId="{00000000-0000-0000-0000-000000000000}"/>
          </ac:spMkLst>
        </pc:spChg>
        <pc:spChg chg="mod">
          <ac:chgData name="Nandakishore Nellutla" userId="c96c1e77273f79c5" providerId="LiveId" clId="{EC676FE4-6C73-4B7E-8C09-A77AC97BC21E}" dt="2026-07-04T10:35:39.141" v="119" actId="255"/>
          <ac:spMkLst>
            <pc:docMk/>
            <pc:sldMk cId="0" sldId="258"/>
            <ac:spMk id="20" creationId="{00000000-0000-0000-0000-000000000000}"/>
          </ac:spMkLst>
        </pc:spChg>
      </pc:sldChg>
      <pc:sldChg chg="addSp delSp modSp mod">
        <pc:chgData name="Nandakishore Nellutla" userId="c96c1e77273f79c5" providerId="LiveId" clId="{EC676FE4-6C73-4B7E-8C09-A77AC97BC21E}" dt="2026-07-04T10:35:20.083" v="118" actId="255"/>
        <pc:sldMkLst>
          <pc:docMk/>
          <pc:sldMk cId="0" sldId="259"/>
        </pc:sldMkLst>
        <pc:spChg chg="mod">
          <ac:chgData name="Nandakishore Nellutla" userId="c96c1e77273f79c5" providerId="LiveId" clId="{EC676FE4-6C73-4B7E-8C09-A77AC97BC21E}" dt="2026-07-04T10:35:20.083" v="118" actId="255"/>
          <ac:spMkLst>
            <pc:docMk/>
            <pc:sldMk cId="0" sldId="259"/>
            <ac:spMk id="3" creationId="{00000000-0000-0000-0000-000000000000}"/>
          </ac:spMkLst>
        </pc:spChg>
        <pc:spChg chg="mod">
          <ac:chgData name="Nandakishore Nellutla" userId="c96c1e77273f79c5" providerId="LiveId" clId="{EC676FE4-6C73-4B7E-8C09-A77AC97BC21E}" dt="2026-07-04T10:35:15.556" v="117" actId="255"/>
          <ac:spMkLst>
            <pc:docMk/>
            <pc:sldMk cId="0" sldId="259"/>
            <ac:spMk id="4" creationId="{00000000-0000-0000-0000-000000000000}"/>
          </ac:spMkLst>
        </pc:spChg>
        <pc:spChg chg="mod">
          <ac:chgData name="Nandakishore Nellutla" userId="c96c1e77273f79c5" providerId="LiveId" clId="{EC676FE4-6C73-4B7E-8C09-A77AC97BC21E}" dt="2026-07-04T10:35:09.756" v="116" actId="255"/>
          <ac:spMkLst>
            <pc:docMk/>
            <pc:sldMk cId="0" sldId="259"/>
            <ac:spMk id="5" creationId="{00000000-0000-0000-0000-000000000000}"/>
          </ac:spMkLst>
        </pc:spChg>
        <pc:spChg chg="mod">
          <ac:chgData name="Nandakishore Nellutla" userId="c96c1e77273f79c5" providerId="LiveId" clId="{EC676FE4-6C73-4B7E-8C09-A77AC97BC21E}" dt="2026-07-04T10:35:09.756" v="116" actId="255"/>
          <ac:spMkLst>
            <pc:docMk/>
            <pc:sldMk cId="0" sldId="259"/>
            <ac:spMk id="6" creationId="{00000000-0000-0000-0000-000000000000}"/>
          </ac:spMkLst>
        </pc:spChg>
        <pc:spChg chg="mod">
          <ac:chgData name="Nandakishore Nellutla" userId="c96c1e77273f79c5" providerId="LiveId" clId="{EC676FE4-6C73-4B7E-8C09-A77AC97BC21E}" dt="2026-07-04T10:35:09.756" v="116" actId="255"/>
          <ac:spMkLst>
            <pc:docMk/>
            <pc:sldMk cId="0" sldId="259"/>
            <ac:spMk id="8" creationId="{00000000-0000-0000-0000-000000000000}"/>
          </ac:spMkLst>
        </pc:spChg>
        <pc:spChg chg="mod">
          <ac:chgData name="Nandakishore Nellutla" userId="c96c1e77273f79c5" providerId="LiveId" clId="{EC676FE4-6C73-4B7E-8C09-A77AC97BC21E}" dt="2026-07-04T10:35:09.756" v="116" actId="255"/>
          <ac:spMkLst>
            <pc:docMk/>
            <pc:sldMk cId="0" sldId="259"/>
            <ac:spMk id="15" creationId="{00000000-0000-0000-0000-000000000000}"/>
          </ac:spMkLst>
        </pc:spChg>
        <pc:spChg chg="mod">
          <ac:chgData name="Nandakishore Nellutla" userId="c96c1e77273f79c5" providerId="LiveId" clId="{EC676FE4-6C73-4B7E-8C09-A77AC97BC21E}" dt="2026-07-04T10:35:09.756" v="116" actId="255"/>
          <ac:spMkLst>
            <pc:docMk/>
            <pc:sldMk cId="0" sldId="259"/>
            <ac:spMk id="20" creationId="{00000000-0000-0000-0000-000000000000}"/>
          </ac:spMkLst>
        </pc:spChg>
        <pc:spChg chg="mod">
          <ac:chgData name="Nandakishore Nellutla" userId="c96c1e77273f79c5" providerId="LiveId" clId="{EC676FE4-6C73-4B7E-8C09-A77AC97BC21E}" dt="2026-07-04T10:35:09.756" v="116" actId="255"/>
          <ac:spMkLst>
            <pc:docMk/>
            <pc:sldMk cId="0" sldId="259"/>
            <ac:spMk id="21" creationId="{00000000-0000-0000-0000-000000000000}"/>
          </ac:spMkLst>
        </pc:spChg>
        <pc:spChg chg="mod">
          <ac:chgData name="Nandakishore Nellutla" userId="c96c1e77273f79c5" providerId="LiveId" clId="{EC676FE4-6C73-4B7E-8C09-A77AC97BC21E}" dt="2026-07-04T10:35:09.756" v="116" actId="255"/>
          <ac:spMkLst>
            <pc:docMk/>
            <pc:sldMk cId="0" sldId="259"/>
            <ac:spMk id="24" creationId="{00000000-0000-0000-0000-000000000000}"/>
          </ac:spMkLst>
        </pc:spChg>
        <pc:spChg chg="mod">
          <ac:chgData name="Nandakishore Nellutla" userId="c96c1e77273f79c5" providerId="LiveId" clId="{EC676FE4-6C73-4B7E-8C09-A77AC97BC21E}" dt="2026-07-04T10:35:09.756" v="116" actId="255"/>
          <ac:spMkLst>
            <pc:docMk/>
            <pc:sldMk cId="0" sldId="259"/>
            <ac:spMk id="26" creationId="{00000000-0000-0000-0000-000000000000}"/>
          </ac:spMkLst>
        </pc:spChg>
        <pc:spChg chg="mod">
          <ac:chgData name="Nandakishore Nellutla" userId="c96c1e77273f79c5" providerId="LiveId" clId="{EC676FE4-6C73-4B7E-8C09-A77AC97BC21E}" dt="2026-07-04T10:35:09.756" v="116" actId="255"/>
          <ac:spMkLst>
            <pc:docMk/>
            <pc:sldMk cId="0" sldId="259"/>
            <ac:spMk id="27" creationId="{00000000-0000-0000-0000-000000000000}"/>
          </ac:spMkLst>
        </pc:spChg>
        <pc:spChg chg="mod">
          <ac:chgData name="Nandakishore Nellutla" userId="c96c1e77273f79c5" providerId="LiveId" clId="{EC676FE4-6C73-4B7E-8C09-A77AC97BC21E}" dt="2026-07-04T10:35:09.756" v="116" actId="255"/>
          <ac:spMkLst>
            <pc:docMk/>
            <pc:sldMk cId="0" sldId="259"/>
            <ac:spMk id="34" creationId="{00000000-0000-0000-0000-000000000000}"/>
          </ac:spMkLst>
        </pc:spChg>
        <pc:spChg chg="del mod">
          <ac:chgData name="Nandakishore Nellutla" userId="c96c1e77273f79c5" providerId="LiveId" clId="{EC676FE4-6C73-4B7E-8C09-A77AC97BC21E}" dt="2026-07-04T10:34:25.286" v="112"/>
          <ac:spMkLst>
            <pc:docMk/>
            <pc:sldMk cId="0" sldId="259"/>
            <ac:spMk id="36" creationId="{00000000-0000-0000-0000-000000000000}"/>
          </ac:spMkLst>
        </pc:spChg>
        <pc:spChg chg="del mod">
          <ac:chgData name="Nandakishore Nellutla" userId="c96c1e77273f79c5" providerId="LiveId" clId="{EC676FE4-6C73-4B7E-8C09-A77AC97BC21E}" dt="2026-07-04T10:34:25.281" v="110" actId="478"/>
          <ac:spMkLst>
            <pc:docMk/>
            <pc:sldMk cId="0" sldId="259"/>
            <ac:spMk id="37" creationId="{00000000-0000-0000-0000-000000000000}"/>
          </ac:spMkLst>
        </pc:spChg>
        <pc:cxnChg chg="add mod">
          <ac:chgData name="Nandakishore Nellutla" userId="c96c1e77273f79c5" providerId="LiveId" clId="{EC676FE4-6C73-4B7E-8C09-A77AC97BC21E}" dt="2026-07-04T10:34:54.548" v="115" actId="1076"/>
          <ac:cxnSpMkLst>
            <pc:docMk/>
            <pc:sldMk cId="0" sldId="259"/>
            <ac:cxnSpMk id="39" creationId="{5A3A962A-E34D-0EF4-6009-0C08504CB05E}"/>
          </ac:cxnSpMkLst>
        </pc:cxnChg>
        <pc:cxnChg chg="add mod">
          <ac:chgData name="Nandakishore Nellutla" userId="c96c1e77273f79c5" providerId="LiveId" clId="{EC676FE4-6C73-4B7E-8C09-A77AC97BC21E}" dt="2026-07-04T10:34:34.750" v="113" actId="14100"/>
          <ac:cxnSpMkLst>
            <pc:docMk/>
            <pc:sldMk cId="0" sldId="259"/>
            <ac:cxnSpMk id="41" creationId="{51B7AEB9-D694-1879-97F9-3D7B41101530}"/>
          </ac:cxnSpMkLst>
        </pc:cxnChg>
      </pc:sldChg>
      <pc:sldChg chg="modSp mod">
        <pc:chgData name="Nandakishore Nellutla" userId="c96c1e77273f79c5" providerId="LiveId" clId="{EC676FE4-6C73-4B7E-8C09-A77AC97BC21E}" dt="2026-07-04T10:33:10.740" v="95" actId="255"/>
        <pc:sldMkLst>
          <pc:docMk/>
          <pc:sldMk cId="0" sldId="261"/>
        </pc:sldMkLst>
        <pc:spChg chg="mod">
          <ac:chgData name="Nandakishore Nellutla" userId="c96c1e77273f79c5" providerId="LiveId" clId="{EC676FE4-6C73-4B7E-8C09-A77AC97BC21E}" dt="2026-07-04T10:32:55.522" v="94" actId="255"/>
          <ac:spMkLst>
            <pc:docMk/>
            <pc:sldMk cId="0" sldId="261"/>
            <ac:spMk id="2" creationId="{00000000-0000-0000-0000-000000000000}"/>
          </ac:spMkLst>
        </pc:spChg>
        <pc:spChg chg="mod">
          <ac:chgData name="Nandakishore Nellutla" userId="c96c1e77273f79c5" providerId="LiveId" clId="{EC676FE4-6C73-4B7E-8C09-A77AC97BC21E}" dt="2026-07-04T10:32:55.522" v="94" actId="255"/>
          <ac:spMkLst>
            <pc:docMk/>
            <pc:sldMk cId="0" sldId="261"/>
            <ac:spMk id="3" creationId="{00000000-0000-0000-0000-000000000000}"/>
          </ac:spMkLst>
        </pc:spChg>
        <pc:spChg chg="mod">
          <ac:chgData name="Nandakishore Nellutla" userId="c96c1e77273f79c5" providerId="LiveId" clId="{EC676FE4-6C73-4B7E-8C09-A77AC97BC21E}" dt="2026-07-04T10:33:10.740" v="95" actId="255"/>
          <ac:spMkLst>
            <pc:docMk/>
            <pc:sldMk cId="0" sldId="261"/>
            <ac:spMk id="4" creationId="{00000000-0000-0000-0000-000000000000}"/>
          </ac:spMkLst>
        </pc:spChg>
        <pc:spChg chg="mod">
          <ac:chgData name="Nandakishore Nellutla" userId="c96c1e77273f79c5" providerId="LiveId" clId="{EC676FE4-6C73-4B7E-8C09-A77AC97BC21E}" dt="2026-07-04T10:32:55.522" v="94" actId="255"/>
          <ac:spMkLst>
            <pc:docMk/>
            <pc:sldMk cId="0" sldId="261"/>
            <ac:spMk id="8" creationId="{00000000-0000-0000-0000-000000000000}"/>
          </ac:spMkLst>
        </pc:spChg>
        <pc:spChg chg="mod">
          <ac:chgData name="Nandakishore Nellutla" userId="c96c1e77273f79c5" providerId="LiveId" clId="{EC676FE4-6C73-4B7E-8C09-A77AC97BC21E}" dt="2026-07-04T10:32:55.522" v="94" actId="255"/>
          <ac:spMkLst>
            <pc:docMk/>
            <pc:sldMk cId="0" sldId="261"/>
            <ac:spMk id="9" creationId="{00000000-0000-0000-0000-000000000000}"/>
          </ac:spMkLst>
        </pc:spChg>
        <pc:spChg chg="mod">
          <ac:chgData name="Nandakishore Nellutla" userId="c96c1e77273f79c5" providerId="LiveId" clId="{EC676FE4-6C73-4B7E-8C09-A77AC97BC21E}" dt="2026-07-04T10:32:55.522" v="94" actId="255"/>
          <ac:spMkLst>
            <pc:docMk/>
            <pc:sldMk cId="0" sldId="261"/>
            <ac:spMk id="12" creationId="{00000000-0000-0000-0000-000000000000}"/>
          </ac:spMkLst>
        </pc:spChg>
        <pc:spChg chg="mod">
          <ac:chgData name="Nandakishore Nellutla" userId="c96c1e77273f79c5" providerId="LiveId" clId="{EC676FE4-6C73-4B7E-8C09-A77AC97BC21E}" dt="2026-07-04T10:32:55.522" v="94" actId="255"/>
          <ac:spMkLst>
            <pc:docMk/>
            <pc:sldMk cId="0" sldId="261"/>
            <ac:spMk id="15" creationId="{00000000-0000-0000-0000-000000000000}"/>
          </ac:spMkLst>
        </pc:spChg>
        <pc:spChg chg="mod">
          <ac:chgData name="Nandakishore Nellutla" userId="c96c1e77273f79c5" providerId="LiveId" clId="{EC676FE4-6C73-4B7E-8C09-A77AC97BC21E}" dt="2026-07-04T10:32:55.522" v="94" actId="255"/>
          <ac:spMkLst>
            <pc:docMk/>
            <pc:sldMk cId="0" sldId="261"/>
            <ac:spMk id="16" creationId="{00000000-0000-0000-0000-000000000000}"/>
          </ac:spMkLst>
        </pc:spChg>
        <pc:spChg chg="mod">
          <ac:chgData name="Nandakishore Nellutla" userId="c96c1e77273f79c5" providerId="LiveId" clId="{EC676FE4-6C73-4B7E-8C09-A77AC97BC21E}" dt="2026-07-04T10:32:55.522" v="94" actId="255"/>
          <ac:spMkLst>
            <pc:docMk/>
            <pc:sldMk cId="0" sldId="261"/>
            <ac:spMk id="20" creationId="{00000000-0000-0000-0000-000000000000}"/>
          </ac:spMkLst>
        </pc:spChg>
        <pc:spChg chg="mod">
          <ac:chgData name="Nandakishore Nellutla" userId="c96c1e77273f79c5" providerId="LiveId" clId="{EC676FE4-6C73-4B7E-8C09-A77AC97BC21E}" dt="2026-07-04T10:32:55.522" v="94" actId="255"/>
          <ac:spMkLst>
            <pc:docMk/>
            <pc:sldMk cId="0" sldId="261"/>
            <ac:spMk id="21" creationId="{00000000-0000-0000-0000-000000000000}"/>
          </ac:spMkLst>
        </pc:spChg>
        <pc:spChg chg="mod">
          <ac:chgData name="Nandakishore Nellutla" userId="c96c1e77273f79c5" providerId="LiveId" clId="{EC676FE4-6C73-4B7E-8C09-A77AC97BC21E}" dt="2026-07-04T10:32:55.522" v="94" actId="255"/>
          <ac:spMkLst>
            <pc:docMk/>
            <pc:sldMk cId="0" sldId="261"/>
            <ac:spMk id="23" creationId="{00000000-0000-0000-0000-000000000000}"/>
          </ac:spMkLst>
        </pc:spChg>
      </pc:sldChg>
      <pc:sldChg chg="modSp mod">
        <pc:chgData name="Nandakishore Nellutla" userId="c96c1e77273f79c5" providerId="LiveId" clId="{EC676FE4-6C73-4B7E-8C09-A77AC97BC21E}" dt="2026-07-04T10:31:36.089" v="85" actId="255"/>
        <pc:sldMkLst>
          <pc:docMk/>
          <pc:sldMk cId="0" sldId="262"/>
        </pc:sldMkLst>
        <pc:spChg chg="mod">
          <ac:chgData name="Nandakishore Nellutla" userId="c96c1e77273f79c5" providerId="LiveId" clId="{EC676FE4-6C73-4B7E-8C09-A77AC97BC21E}" dt="2026-07-04T10:31:36.089" v="85" actId="255"/>
          <ac:spMkLst>
            <pc:docMk/>
            <pc:sldMk cId="0" sldId="262"/>
            <ac:spMk id="3" creationId="{00000000-0000-0000-0000-000000000000}"/>
          </ac:spMkLst>
        </pc:spChg>
        <pc:spChg chg="mod">
          <ac:chgData name="Nandakishore Nellutla" userId="c96c1e77273f79c5" providerId="LiveId" clId="{EC676FE4-6C73-4B7E-8C09-A77AC97BC21E}" dt="2026-07-04T10:31:32.358" v="84" actId="255"/>
          <ac:spMkLst>
            <pc:docMk/>
            <pc:sldMk cId="0" sldId="262"/>
            <ac:spMk id="4" creationId="{00000000-0000-0000-0000-000000000000}"/>
          </ac:spMkLst>
        </pc:spChg>
        <pc:spChg chg="mod">
          <ac:chgData name="Nandakishore Nellutla" userId="c96c1e77273f79c5" providerId="LiveId" clId="{EC676FE4-6C73-4B7E-8C09-A77AC97BC21E}" dt="2026-07-04T10:31:26.113" v="83" actId="255"/>
          <ac:spMkLst>
            <pc:docMk/>
            <pc:sldMk cId="0" sldId="262"/>
            <ac:spMk id="6" creationId="{00000000-0000-0000-0000-000000000000}"/>
          </ac:spMkLst>
        </pc:spChg>
        <pc:spChg chg="mod">
          <ac:chgData name="Nandakishore Nellutla" userId="c96c1e77273f79c5" providerId="LiveId" clId="{EC676FE4-6C73-4B7E-8C09-A77AC97BC21E}" dt="2026-07-04T10:31:26.113" v="83" actId="255"/>
          <ac:spMkLst>
            <pc:docMk/>
            <pc:sldMk cId="0" sldId="262"/>
            <ac:spMk id="8" creationId="{00000000-0000-0000-0000-000000000000}"/>
          </ac:spMkLst>
        </pc:spChg>
        <pc:spChg chg="mod">
          <ac:chgData name="Nandakishore Nellutla" userId="c96c1e77273f79c5" providerId="LiveId" clId="{EC676FE4-6C73-4B7E-8C09-A77AC97BC21E}" dt="2026-07-04T10:31:26.113" v="83" actId="255"/>
          <ac:spMkLst>
            <pc:docMk/>
            <pc:sldMk cId="0" sldId="262"/>
            <ac:spMk id="12" creationId="{00000000-0000-0000-0000-000000000000}"/>
          </ac:spMkLst>
        </pc:spChg>
        <pc:spChg chg="mod">
          <ac:chgData name="Nandakishore Nellutla" userId="c96c1e77273f79c5" providerId="LiveId" clId="{EC676FE4-6C73-4B7E-8C09-A77AC97BC21E}" dt="2026-07-04T10:31:26.113" v="83" actId="255"/>
          <ac:spMkLst>
            <pc:docMk/>
            <pc:sldMk cId="0" sldId="262"/>
            <ac:spMk id="13" creationId="{00000000-0000-0000-0000-000000000000}"/>
          </ac:spMkLst>
        </pc:spChg>
        <pc:spChg chg="mod">
          <ac:chgData name="Nandakishore Nellutla" userId="c96c1e77273f79c5" providerId="LiveId" clId="{EC676FE4-6C73-4B7E-8C09-A77AC97BC21E}" dt="2026-07-04T10:31:26.113" v="83" actId="255"/>
          <ac:spMkLst>
            <pc:docMk/>
            <pc:sldMk cId="0" sldId="262"/>
            <ac:spMk id="17" creationId="{00000000-0000-0000-0000-000000000000}"/>
          </ac:spMkLst>
        </pc:spChg>
        <pc:spChg chg="mod">
          <ac:chgData name="Nandakishore Nellutla" userId="c96c1e77273f79c5" providerId="LiveId" clId="{EC676FE4-6C73-4B7E-8C09-A77AC97BC21E}" dt="2026-07-04T10:31:26.113" v="83" actId="255"/>
          <ac:spMkLst>
            <pc:docMk/>
            <pc:sldMk cId="0" sldId="262"/>
            <ac:spMk id="18" creationId="{00000000-0000-0000-0000-000000000000}"/>
          </ac:spMkLst>
        </pc:spChg>
        <pc:spChg chg="mod">
          <ac:chgData name="Nandakishore Nellutla" userId="c96c1e77273f79c5" providerId="LiveId" clId="{EC676FE4-6C73-4B7E-8C09-A77AC97BC21E}" dt="2026-07-04T10:31:26.113" v="83" actId="255"/>
          <ac:spMkLst>
            <pc:docMk/>
            <pc:sldMk cId="0" sldId="262"/>
            <ac:spMk id="23" creationId="{00000000-0000-0000-0000-000000000000}"/>
          </ac:spMkLst>
        </pc:spChg>
        <pc:spChg chg="mod">
          <ac:chgData name="Nandakishore Nellutla" userId="c96c1e77273f79c5" providerId="LiveId" clId="{EC676FE4-6C73-4B7E-8C09-A77AC97BC21E}" dt="2026-07-04T10:31:26.113" v="83" actId="255"/>
          <ac:spMkLst>
            <pc:docMk/>
            <pc:sldMk cId="0" sldId="262"/>
            <ac:spMk id="25" creationId="{00000000-0000-0000-0000-000000000000}"/>
          </ac:spMkLst>
        </pc:spChg>
      </pc:sldChg>
      <pc:sldChg chg="modSp mod">
        <pc:chgData name="Nandakishore Nellutla" userId="c96c1e77273f79c5" providerId="LiveId" clId="{EC676FE4-6C73-4B7E-8C09-A77AC97BC21E}" dt="2026-07-04T10:31:14.974" v="82" actId="255"/>
        <pc:sldMkLst>
          <pc:docMk/>
          <pc:sldMk cId="0" sldId="263"/>
        </pc:sldMkLst>
        <pc:spChg chg="mod">
          <ac:chgData name="Nandakishore Nellutla" userId="c96c1e77273f79c5" providerId="LiveId" clId="{EC676FE4-6C73-4B7E-8C09-A77AC97BC21E}" dt="2026-07-04T10:30:50.397" v="80" actId="255"/>
          <ac:spMkLst>
            <pc:docMk/>
            <pc:sldMk cId="0" sldId="263"/>
            <ac:spMk id="3" creationId="{00000000-0000-0000-0000-000000000000}"/>
          </ac:spMkLst>
        </pc:spChg>
        <pc:spChg chg="mod">
          <ac:chgData name="Nandakishore Nellutla" userId="c96c1e77273f79c5" providerId="LiveId" clId="{EC676FE4-6C73-4B7E-8C09-A77AC97BC21E}" dt="2026-07-04T10:31:14.974" v="82" actId="255"/>
          <ac:spMkLst>
            <pc:docMk/>
            <pc:sldMk cId="0" sldId="263"/>
            <ac:spMk id="4" creationId="{00000000-0000-0000-0000-000000000000}"/>
          </ac:spMkLst>
        </pc:spChg>
        <pc:spChg chg="mod">
          <ac:chgData name="Nandakishore Nellutla" userId="c96c1e77273f79c5" providerId="LiveId" clId="{EC676FE4-6C73-4B7E-8C09-A77AC97BC21E}" dt="2026-07-04T10:31:08.811" v="81" actId="255"/>
          <ac:spMkLst>
            <pc:docMk/>
            <pc:sldMk cId="0" sldId="263"/>
            <ac:spMk id="7" creationId="{00000000-0000-0000-0000-000000000000}"/>
          </ac:spMkLst>
        </pc:spChg>
        <pc:spChg chg="mod">
          <ac:chgData name="Nandakishore Nellutla" userId="c96c1e77273f79c5" providerId="LiveId" clId="{EC676FE4-6C73-4B7E-8C09-A77AC97BC21E}" dt="2026-07-04T10:31:08.811" v="81" actId="255"/>
          <ac:spMkLst>
            <pc:docMk/>
            <pc:sldMk cId="0" sldId="263"/>
            <ac:spMk id="12" creationId="{00000000-0000-0000-0000-000000000000}"/>
          </ac:spMkLst>
        </pc:spChg>
        <pc:spChg chg="mod">
          <ac:chgData name="Nandakishore Nellutla" userId="c96c1e77273f79c5" providerId="LiveId" clId="{EC676FE4-6C73-4B7E-8C09-A77AC97BC21E}" dt="2026-07-04T10:31:08.811" v="81" actId="255"/>
          <ac:spMkLst>
            <pc:docMk/>
            <pc:sldMk cId="0" sldId="263"/>
            <ac:spMk id="13" creationId="{00000000-0000-0000-0000-000000000000}"/>
          </ac:spMkLst>
        </pc:spChg>
        <pc:spChg chg="mod">
          <ac:chgData name="Nandakishore Nellutla" userId="c96c1e77273f79c5" providerId="LiveId" clId="{EC676FE4-6C73-4B7E-8C09-A77AC97BC21E}" dt="2026-07-04T10:31:08.811" v="81" actId="255"/>
          <ac:spMkLst>
            <pc:docMk/>
            <pc:sldMk cId="0" sldId="263"/>
            <ac:spMk id="15" creationId="{00000000-0000-0000-0000-000000000000}"/>
          </ac:spMkLst>
        </pc:spChg>
        <pc:spChg chg="mod">
          <ac:chgData name="Nandakishore Nellutla" userId="c96c1e77273f79c5" providerId="LiveId" clId="{EC676FE4-6C73-4B7E-8C09-A77AC97BC21E}" dt="2026-07-04T10:31:08.811" v="81" actId="255"/>
          <ac:spMkLst>
            <pc:docMk/>
            <pc:sldMk cId="0" sldId="263"/>
            <ac:spMk id="17" creationId="{00000000-0000-0000-0000-000000000000}"/>
          </ac:spMkLst>
        </pc:spChg>
        <pc:spChg chg="mod">
          <ac:chgData name="Nandakishore Nellutla" userId="c96c1e77273f79c5" providerId="LiveId" clId="{EC676FE4-6C73-4B7E-8C09-A77AC97BC21E}" dt="2026-07-04T10:31:08.811" v="81" actId="255"/>
          <ac:spMkLst>
            <pc:docMk/>
            <pc:sldMk cId="0" sldId="263"/>
            <ac:spMk id="19" creationId="{00000000-0000-0000-0000-000000000000}"/>
          </ac:spMkLst>
        </pc:spChg>
        <pc:spChg chg="mod">
          <ac:chgData name="Nandakishore Nellutla" userId="c96c1e77273f79c5" providerId="LiveId" clId="{EC676FE4-6C73-4B7E-8C09-A77AC97BC21E}" dt="2026-07-04T10:31:08.811" v="81" actId="255"/>
          <ac:spMkLst>
            <pc:docMk/>
            <pc:sldMk cId="0" sldId="263"/>
            <ac:spMk id="22" creationId="{00000000-0000-0000-0000-000000000000}"/>
          </ac:spMkLst>
        </pc:spChg>
        <pc:spChg chg="mod">
          <ac:chgData name="Nandakishore Nellutla" userId="c96c1e77273f79c5" providerId="LiveId" clId="{EC676FE4-6C73-4B7E-8C09-A77AC97BC21E}" dt="2026-07-04T10:31:08.811" v="81" actId="255"/>
          <ac:spMkLst>
            <pc:docMk/>
            <pc:sldMk cId="0" sldId="263"/>
            <ac:spMk id="24" creationId="{00000000-0000-0000-0000-000000000000}"/>
          </ac:spMkLst>
        </pc:spChg>
        <pc:spChg chg="mod">
          <ac:chgData name="Nandakishore Nellutla" userId="c96c1e77273f79c5" providerId="LiveId" clId="{EC676FE4-6C73-4B7E-8C09-A77AC97BC21E}" dt="2026-07-04T10:31:08.811" v="81" actId="255"/>
          <ac:spMkLst>
            <pc:docMk/>
            <pc:sldMk cId="0" sldId="263"/>
            <ac:spMk id="25" creationId="{00000000-0000-0000-0000-000000000000}"/>
          </ac:spMkLst>
        </pc:spChg>
      </pc:sldChg>
      <pc:sldChg chg="modSp mod">
        <pc:chgData name="Nandakishore Nellutla" userId="c96c1e77273f79c5" providerId="LiveId" clId="{EC676FE4-6C73-4B7E-8C09-A77AC97BC21E}" dt="2026-07-04T10:32:19.687" v="88" actId="404"/>
        <pc:sldMkLst>
          <pc:docMk/>
          <pc:sldMk cId="0" sldId="264"/>
        </pc:sldMkLst>
        <pc:spChg chg="mod">
          <ac:chgData name="Nandakishore Nellutla" userId="c96c1e77273f79c5" providerId="LiveId" clId="{EC676FE4-6C73-4B7E-8C09-A77AC97BC21E}" dt="2026-07-04T10:32:19.687" v="88" actId="404"/>
          <ac:spMkLst>
            <pc:docMk/>
            <pc:sldMk cId="0" sldId="264"/>
            <ac:spMk id="3" creationId="{00000000-0000-0000-0000-000000000000}"/>
          </ac:spMkLst>
        </pc:spChg>
        <pc:spChg chg="mod">
          <ac:chgData name="Nandakishore Nellutla" userId="c96c1e77273f79c5" providerId="LiveId" clId="{EC676FE4-6C73-4B7E-8C09-A77AC97BC21E}" dt="2026-07-04T10:32:10.957" v="87" actId="255"/>
          <ac:spMkLst>
            <pc:docMk/>
            <pc:sldMk cId="0" sldId="264"/>
            <ac:spMk id="4" creationId="{00000000-0000-0000-0000-000000000000}"/>
          </ac:spMkLst>
        </pc:spChg>
        <pc:spChg chg="mod">
          <ac:chgData name="Nandakishore Nellutla" userId="c96c1e77273f79c5" providerId="LiveId" clId="{EC676FE4-6C73-4B7E-8C09-A77AC97BC21E}" dt="2026-07-04T10:31:59.516" v="86" actId="255"/>
          <ac:spMkLst>
            <pc:docMk/>
            <pc:sldMk cId="0" sldId="264"/>
            <ac:spMk id="5" creationId="{00000000-0000-0000-0000-000000000000}"/>
          </ac:spMkLst>
        </pc:spChg>
        <pc:spChg chg="mod">
          <ac:chgData name="Nandakishore Nellutla" userId="c96c1e77273f79c5" providerId="LiveId" clId="{EC676FE4-6C73-4B7E-8C09-A77AC97BC21E}" dt="2026-07-04T10:31:59.516" v="86" actId="255"/>
          <ac:spMkLst>
            <pc:docMk/>
            <pc:sldMk cId="0" sldId="264"/>
            <ac:spMk id="10" creationId="{00000000-0000-0000-0000-000000000000}"/>
          </ac:spMkLst>
        </pc:spChg>
        <pc:spChg chg="mod">
          <ac:chgData name="Nandakishore Nellutla" userId="c96c1e77273f79c5" providerId="LiveId" clId="{EC676FE4-6C73-4B7E-8C09-A77AC97BC21E}" dt="2026-07-04T10:31:59.516" v="86" actId="255"/>
          <ac:spMkLst>
            <pc:docMk/>
            <pc:sldMk cId="0" sldId="264"/>
            <ac:spMk id="12" creationId="{00000000-0000-0000-0000-000000000000}"/>
          </ac:spMkLst>
        </pc:spChg>
        <pc:spChg chg="mod">
          <ac:chgData name="Nandakishore Nellutla" userId="c96c1e77273f79c5" providerId="LiveId" clId="{EC676FE4-6C73-4B7E-8C09-A77AC97BC21E}" dt="2026-07-04T10:31:59.516" v="86" actId="255"/>
          <ac:spMkLst>
            <pc:docMk/>
            <pc:sldMk cId="0" sldId="264"/>
            <ac:spMk id="20" creationId="{00000000-0000-0000-0000-000000000000}"/>
          </ac:spMkLst>
        </pc:spChg>
        <pc:spChg chg="mod">
          <ac:chgData name="Nandakishore Nellutla" userId="c96c1e77273f79c5" providerId="LiveId" clId="{EC676FE4-6C73-4B7E-8C09-A77AC97BC21E}" dt="2026-07-04T10:31:59.516" v="86" actId="255"/>
          <ac:spMkLst>
            <pc:docMk/>
            <pc:sldMk cId="0" sldId="264"/>
            <ac:spMk id="23" creationId="{00000000-0000-0000-0000-000000000000}"/>
          </ac:spMkLst>
        </pc:spChg>
        <pc:spChg chg="mod">
          <ac:chgData name="Nandakishore Nellutla" userId="c96c1e77273f79c5" providerId="LiveId" clId="{EC676FE4-6C73-4B7E-8C09-A77AC97BC21E}" dt="2026-07-04T10:31:59.516" v="86" actId="255"/>
          <ac:spMkLst>
            <pc:docMk/>
            <pc:sldMk cId="0" sldId="264"/>
            <ac:spMk id="26" creationId="{00000000-0000-0000-0000-000000000000}"/>
          </ac:spMkLst>
        </pc:spChg>
        <pc:spChg chg="mod">
          <ac:chgData name="Nandakishore Nellutla" userId="c96c1e77273f79c5" providerId="LiveId" clId="{EC676FE4-6C73-4B7E-8C09-A77AC97BC21E}" dt="2026-07-04T10:31:59.516" v="86" actId="255"/>
          <ac:spMkLst>
            <pc:docMk/>
            <pc:sldMk cId="0" sldId="264"/>
            <ac:spMk id="33" creationId="{00000000-0000-0000-0000-000000000000}"/>
          </ac:spMkLst>
        </pc:spChg>
        <pc:spChg chg="mod">
          <ac:chgData name="Nandakishore Nellutla" userId="c96c1e77273f79c5" providerId="LiveId" clId="{EC676FE4-6C73-4B7E-8C09-A77AC97BC21E}" dt="2026-07-04T10:31:59.516" v="86" actId="255"/>
          <ac:spMkLst>
            <pc:docMk/>
            <pc:sldMk cId="0" sldId="264"/>
            <ac:spMk id="36" creationId="{00000000-0000-0000-0000-000000000000}"/>
          </ac:spMkLst>
        </pc:spChg>
        <pc:spChg chg="mod">
          <ac:chgData name="Nandakishore Nellutla" userId="c96c1e77273f79c5" providerId="LiveId" clId="{EC676FE4-6C73-4B7E-8C09-A77AC97BC21E}" dt="2026-07-04T10:31:59.516" v="86" actId="255"/>
          <ac:spMkLst>
            <pc:docMk/>
            <pc:sldMk cId="0" sldId="264"/>
            <ac:spMk id="38" creationId="{00000000-0000-0000-0000-000000000000}"/>
          </ac:spMkLst>
        </pc:spChg>
      </pc:sldChg>
      <pc:sldChg chg="modSp mod">
        <pc:chgData name="Nandakishore Nellutla" userId="c96c1e77273f79c5" providerId="LiveId" clId="{EC676FE4-6C73-4B7E-8C09-A77AC97BC21E}" dt="2026-07-04T10:30:32.747" v="79" actId="20577"/>
        <pc:sldMkLst>
          <pc:docMk/>
          <pc:sldMk cId="0" sldId="265"/>
        </pc:sldMkLst>
        <pc:spChg chg="mod">
          <ac:chgData name="Nandakishore Nellutla" userId="c96c1e77273f79c5" providerId="LiveId" clId="{EC676FE4-6C73-4B7E-8C09-A77AC97BC21E}" dt="2026-07-04T10:30:32.747" v="79" actId="20577"/>
          <ac:spMkLst>
            <pc:docMk/>
            <pc:sldMk cId="0" sldId="265"/>
            <ac:spMk id="1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710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3152" y="0"/>
            <a:ext cx="12115800" cy="109728"/>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57200" y="320040"/>
            <a:ext cx="3200400" cy="320040"/>
          </a:xfrm>
          <a:prstGeom prst="rect">
            <a:avLst/>
          </a:prstGeom>
          <a:solidFill>
            <a:srgbClr val="0046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7200" y="320040"/>
            <a:ext cx="3200400" cy="215444"/>
          </a:xfrm>
          <a:prstGeom prst="rect">
            <a:avLst/>
          </a:prstGeom>
          <a:noFill/>
        </p:spPr>
        <p:txBody>
          <a:bodyPr wrap="square">
            <a:spAutoFit/>
          </a:bodyPr>
          <a:lstStyle/>
          <a:p>
            <a:pPr algn="ctr"/>
            <a:r>
              <a:rPr sz="800" b="1" i="0" dirty="0">
                <a:solidFill>
                  <a:srgbClr val="FFFFFF"/>
                </a:solidFill>
                <a:latin typeface="Calibri"/>
              </a:rPr>
              <a:t>COTIVITI  -  INTERN ASSESSMENT  -  202</a:t>
            </a:r>
            <a:r>
              <a:rPr lang="en-IN" sz="800" b="1" i="0" dirty="0">
                <a:solidFill>
                  <a:srgbClr val="FFFFFF"/>
                </a:solidFill>
                <a:latin typeface="Calibri"/>
              </a:rPr>
              <a:t>6</a:t>
            </a:r>
            <a:endParaRPr sz="800" b="1" i="0" dirty="0">
              <a:solidFill>
                <a:srgbClr val="FFFFFF"/>
              </a:solidFill>
              <a:latin typeface="Calibri"/>
            </a:endParaRPr>
          </a:p>
        </p:txBody>
      </p:sp>
      <p:sp>
        <p:nvSpPr>
          <p:cNvPr id="7" name="TextBox 6"/>
          <p:cNvSpPr txBox="1"/>
          <p:nvPr/>
        </p:nvSpPr>
        <p:spPr>
          <a:xfrm>
            <a:off x="731520" y="1097280"/>
            <a:ext cx="10058400" cy="1645920"/>
          </a:xfrm>
          <a:prstGeom prst="rect">
            <a:avLst/>
          </a:prstGeom>
          <a:noFill/>
        </p:spPr>
        <p:txBody>
          <a:bodyPr wrap="square">
            <a:spAutoFit/>
          </a:bodyPr>
          <a:lstStyle/>
          <a:p>
            <a:pPr algn="l"/>
            <a:r>
              <a:rPr sz="4000" b="1" i="0">
                <a:solidFill>
                  <a:srgbClr val="E2E8F0"/>
                </a:solidFill>
                <a:latin typeface="Calibri"/>
              </a:rPr>
              <a:t>Clinical Natural Language
Technology for Health Care</a:t>
            </a:r>
          </a:p>
        </p:txBody>
      </p:sp>
      <p:sp>
        <p:nvSpPr>
          <p:cNvPr id="8" name="TextBox 7"/>
          <p:cNvSpPr txBox="1"/>
          <p:nvPr/>
        </p:nvSpPr>
        <p:spPr>
          <a:xfrm>
            <a:off x="731520" y="2834640"/>
            <a:ext cx="10058400" cy="822960"/>
          </a:xfrm>
          <a:prstGeom prst="rect">
            <a:avLst/>
          </a:prstGeom>
          <a:noFill/>
        </p:spPr>
        <p:txBody>
          <a:bodyPr wrap="square">
            <a:spAutoFit/>
          </a:bodyPr>
          <a:lstStyle/>
          <a:p>
            <a:pPr algn="l"/>
            <a:r>
              <a:rPr sz="1800" b="0" i="1">
                <a:solidFill>
                  <a:srgbClr val="94A3B8"/>
                </a:solidFill>
                <a:latin typeface="Calibri"/>
              </a:rPr>
              <a:t>Past, Present, &amp; Future Approaches
NLP  -  OCR  -  Computer Vision  -  LLM  -  LMM</a:t>
            </a:r>
          </a:p>
        </p:txBody>
      </p:sp>
      <p:sp>
        <p:nvSpPr>
          <p:cNvPr id="9" name="Rectangle 8"/>
          <p:cNvSpPr/>
          <p:nvPr/>
        </p:nvSpPr>
        <p:spPr>
          <a:xfrm>
            <a:off x="731520" y="3749039"/>
            <a:ext cx="1005840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3886200"/>
            <a:ext cx="7315200" cy="261610"/>
          </a:xfrm>
          <a:prstGeom prst="rect">
            <a:avLst/>
          </a:prstGeom>
          <a:noFill/>
        </p:spPr>
        <p:txBody>
          <a:bodyPr wrap="square">
            <a:spAutoFit/>
          </a:bodyPr>
          <a:lstStyle/>
          <a:p>
            <a:pPr algn="l"/>
            <a:r>
              <a:rPr sz="1100" b="0" i="0" dirty="0">
                <a:solidFill>
                  <a:srgbClr val="475569"/>
                </a:solidFill>
                <a:latin typeface="Calibri"/>
              </a:rPr>
              <a:t>Presented by: </a:t>
            </a:r>
            <a:r>
              <a:rPr lang="en-IN" sz="1100" dirty="0">
                <a:solidFill>
                  <a:srgbClr val="475569"/>
                </a:solidFill>
                <a:latin typeface="Calibri"/>
              </a:rPr>
              <a:t>Nanda Kishore N</a:t>
            </a:r>
            <a:r>
              <a:rPr sz="1100" b="0" i="0" dirty="0">
                <a:solidFill>
                  <a:srgbClr val="475569"/>
                </a:solidFill>
                <a:latin typeface="Calibri"/>
              </a:rPr>
              <a:t>  -  July 2026</a:t>
            </a:r>
          </a:p>
        </p:txBody>
      </p:sp>
      <p:sp>
        <p:nvSpPr>
          <p:cNvPr id="11" name="Rectangle 10"/>
          <p:cNvSpPr/>
          <p:nvPr/>
        </p:nvSpPr>
        <p:spPr>
          <a:xfrm>
            <a:off x="73152" y="6492240"/>
            <a:ext cx="12115800" cy="365760"/>
          </a:xfrm>
          <a:prstGeom prst="rect">
            <a:avLst/>
          </a:prstGeom>
          <a:solidFill>
            <a:srgbClr val="0F20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 y="6492240"/>
            <a:ext cx="10972800" cy="215444"/>
          </a:xfrm>
          <a:prstGeom prst="rect">
            <a:avLst/>
          </a:prstGeom>
          <a:noFill/>
        </p:spPr>
        <p:txBody>
          <a:bodyPr wrap="square">
            <a:spAutoFit/>
          </a:bodyPr>
          <a:lstStyle/>
          <a:p>
            <a:pPr algn="ctr"/>
            <a:r>
              <a:rPr sz="800" b="0" i="0" dirty="0">
                <a:solidFill>
                  <a:srgbClr val="475569"/>
                </a:solidFill>
                <a:latin typeface="Calibri"/>
              </a:rPr>
              <a:t>Topic: Clinical NLP for Healthcare  -  </a:t>
            </a:r>
            <a:r>
              <a:rPr sz="800" b="0" i="0" dirty="0" err="1">
                <a:solidFill>
                  <a:srgbClr val="475569"/>
                </a:solidFill>
                <a:latin typeface="Calibri"/>
              </a:rPr>
              <a:t>ClinicalIQ</a:t>
            </a:r>
            <a:r>
              <a:rPr sz="800" b="0" i="0" dirty="0">
                <a:solidFill>
                  <a:srgbClr val="475569"/>
                </a:solidFill>
                <a:latin typeface="Calibri"/>
              </a:rPr>
              <a:t> POC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 name="TextBox 2"/>
          <p:cNvSpPr txBox="1"/>
          <p:nvPr/>
        </p:nvSpPr>
        <p:spPr>
          <a:xfrm>
            <a:off x="365760" y="182880"/>
            <a:ext cx="10972800" cy="276999"/>
          </a:xfrm>
          <a:prstGeom prst="rect">
            <a:avLst/>
          </a:prstGeom>
          <a:noFill/>
        </p:spPr>
        <p:txBody>
          <a:bodyPr wrap="square">
            <a:spAutoFit/>
          </a:bodyPr>
          <a:lstStyle/>
          <a:p>
            <a:pPr algn="l"/>
            <a:r>
              <a:rPr sz="1200" b="1" i="0" dirty="0">
                <a:solidFill>
                  <a:srgbClr val="3B82F6"/>
                </a:solidFill>
                <a:latin typeface="Calibri"/>
              </a:rPr>
              <a:t>AGENDA</a:t>
            </a:r>
          </a:p>
        </p:txBody>
      </p:sp>
      <p:sp>
        <p:nvSpPr>
          <p:cNvPr id="4" name="TextBox 3"/>
          <p:cNvSpPr txBox="1"/>
          <p:nvPr/>
        </p:nvSpPr>
        <p:spPr>
          <a:xfrm>
            <a:off x="365760" y="548640"/>
            <a:ext cx="10972800" cy="307777"/>
          </a:xfrm>
          <a:prstGeom prst="rect">
            <a:avLst/>
          </a:prstGeom>
          <a:noFill/>
        </p:spPr>
        <p:txBody>
          <a:bodyPr wrap="square">
            <a:spAutoFit/>
          </a:bodyPr>
          <a:lstStyle/>
          <a:p>
            <a:pPr algn="l"/>
            <a:r>
              <a:rPr sz="1400" b="1" i="0" dirty="0">
                <a:solidFill>
                  <a:srgbClr val="E2E8F0"/>
                </a:solidFill>
                <a:latin typeface="Calibri"/>
              </a:rPr>
              <a:t>What We'll Cover Today</a:t>
            </a:r>
          </a:p>
        </p:txBody>
      </p:sp>
      <p:sp>
        <p:nvSpPr>
          <p:cNvPr id="5" name="Rectangle 4"/>
          <p:cNvSpPr/>
          <p:nvPr/>
        </p:nvSpPr>
        <p:spPr>
          <a:xfrm>
            <a:off x="365760" y="1188720"/>
            <a:ext cx="109728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Rectangle 5"/>
          <p:cNvSpPr/>
          <p:nvPr/>
        </p:nvSpPr>
        <p:spPr>
          <a:xfrm>
            <a:off x="365760" y="1371600"/>
            <a:ext cx="457200" cy="59436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TextBox 6"/>
          <p:cNvSpPr txBox="1"/>
          <p:nvPr/>
        </p:nvSpPr>
        <p:spPr>
          <a:xfrm>
            <a:off x="365760" y="1371600"/>
            <a:ext cx="457200" cy="307777"/>
          </a:xfrm>
          <a:prstGeom prst="rect">
            <a:avLst/>
          </a:prstGeom>
          <a:noFill/>
        </p:spPr>
        <p:txBody>
          <a:bodyPr wrap="square">
            <a:spAutoFit/>
          </a:bodyPr>
          <a:lstStyle/>
          <a:p>
            <a:pPr algn="ctr"/>
            <a:r>
              <a:rPr sz="1400" b="1" i="0">
                <a:solidFill>
                  <a:srgbClr val="FFFFFF"/>
                </a:solidFill>
                <a:latin typeface="Calibri"/>
              </a:rPr>
              <a:t>01</a:t>
            </a:r>
          </a:p>
        </p:txBody>
      </p:sp>
      <p:sp>
        <p:nvSpPr>
          <p:cNvPr id="8" name="TextBox 7"/>
          <p:cNvSpPr txBox="1"/>
          <p:nvPr/>
        </p:nvSpPr>
        <p:spPr>
          <a:xfrm>
            <a:off x="960120" y="1371600"/>
            <a:ext cx="5029200" cy="320040"/>
          </a:xfrm>
          <a:prstGeom prst="rect">
            <a:avLst/>
          </a:prstGeom>
          <a:noFill/>
        </p:spPr>
        <p:txBody>
          <a:bodyPr wrap="square">
            <a:spAutoFit/>
          </a:bodyPr>
          <a:lstStyle/>
          <a:p>
            <a:pPr algn="l"/>
            <a:r>
              <a:rPr sz="1400" b="1" i="0">
                <a:solidFill>
                  <a:srgbClr val="E2E8F0"/>
                </a:solidFill>
                <a:latin typeface="Calibri"/>
              </a:rPr>
              <a:t>What is Clinical NLP?</a:t>
            </a:r>
          </a:p>
        </p:txBody>
      </p:sp>
      <p:sp>
        <p:nvSpPr>
          <p:cNvPr id="9" name="TextBox 8"/>
          <p:cNvSpPr txBox="1"/>
          <p:nvPr/>
        </p:nvSpPr>
        <p:spPr>
          <a:xfrm>
            <a:off x="960120" y="1645920"/>
            <a:ext cx="10515600" cy="320040"/>
          </a:xfrm>
          <a:prstGeom prst="rect">
            <a:avLst/>
          </a:prstGeom>
          <a:noFill/>
        </p:spPr>
        <p:txBody>
          <a:bodyPr wrap="square">
            <a:spAutoFit/>
          </a:bodyPr>
          <a:lstStyle/>
          <a:p>
            <a:pPr algn="l"/>
            <a:r>
              <a:rPr sz="1400" b="0" i="0">
                <a:solidFill>
                  <a:srgbClr val="94A3B8"/>
                </a:solidFill>
                <a:latin typeface="Calibri"/>
              </a:rPr>
              <a:t>Definition, why it matters, and where it shows up</a:t>
            </a:r>
          </a:p>
        </p:txBody>
      </p:sp>
      <p:sp>
        <p:nvSpPr>
          <p:cNvPr id="10" name="Rectangle 9"/>
          <p:cNvSpPr/>
          <p:nvPr/>
        </p:nvSpPr>
        <p:spPr>
          <a:xfrm>
            <a:off x="365760" y="2212848"/>
            <a:ext cx="45720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365760" y="2212848"/>
            <a:ext cx="457200" cy="307777"/>
          </a:xfrm>
          <a:prstGeom prst="rect">
            <a:avLst/>
          </a:prstGeom>
          <a:noFill/>
        </p:spPr>
        <p:txBody>
          <a:bodyPr wrap="square">
            <a:spAutoFit/>
          </a:bodyPr>
          <a:lstStyle/>
          <a:p>
            <a:pPr algn="ctr"/>
            <a:r>
              <a:rPr sz="1400" b="1" i="0">
                <a:solidFill>
                  <a:srgbClr val="FFFFFF"/>
                </a:solidFill>
                <a:latin typeface="Calibri"/>
              </a:rPr>
              <a:t>02</a:t>
            </a:r>
          </a:p>
        </p:txBody>
      </p:sp>
      <p:sp>
        <p:nvSpPr>
          <p:cNvPr id="12" name="TextBox 11"/>
          <p:cNvSpPr txBox="1"/>
          <p:nvPr/>
        </p:nvSpPr>
        <p:spPr>
          <a:xfrm>
            <a:off x="960120" y="2212848"/>
            <a:ext cx="5029200" cy="320040"/>
          </a:xfrm>
          <a:prstGeom prst="rect">
            <a:avLst/>
          </a:prstGeom>
          <a:noFill/>
        </p:spPr>
        <p:txBody>
          <a:bodyPr wrap="square">
            <a:spAutoFit/>
          </a:bodyPr>
          <a:lstStyle/>
          <a:p>
            <a:pPr algn="l"/>
            <a:r>
              <a:rPr sz="1400" b="1" i="0">
                <a:solidFill>
                  <a:srgbClr val="E2E8F0"/>
                </a:solidFill>
                <a:latin typeface="Calibri"/>
              </a:rPr>
              <a:t>Technology Evolution</a:t>
            </a:r>
          </a:p>
        </p:txBody>
      </p:sp>
      <p:sp>
        <p:nvSpPr>
          <p:cNvPr id="13" name="TextBox 12"/>
          <p:cNvSpPr txBox="1"/>
          <p:nvPr/>
        </p:nvSpPr>
        <p:spPr>
          <a:xfrm>
            <a:off x="960120" y="2487168"/>
            <a:ext cx="10515600" cy="320040"/>
          </a:xfrm>
          <a:prstGeom prst="rect">
            <a:avLst/>
          </a:prstGeom>
          <a:noFill/>
        </p:spPr>
        <p:txBody>
          <a:bodyPr wrap="square">
            <a:spAutoFit/>
          </a:bodyPr>
          <a:lstStyle/>
          <a:p>
            <a:pPr algn="l"/>
            <a:r>
              <a:rPr sz="1400" b="0" i="0" dirty="0">
                <a:solidFill>
                  <a:srgbClr val="94A3B8"/>
                </a:solidFill>
                <a:latin typeface="Calibri"/>
              </a:rPr>
              <a:t>Past: Rule-based  -&gt;  Present: BERT  -&gt;  Future: LLMs</a:t>
            </a:r>
          </a:p>
        </p:txBody>
      </p:sp>
      <p:sp>
        <p:nvSpPr>
          <p:cNvPr id="14" name="Rectangle 13"/>
          <p:cNvSpPr/>
          <p:nvPr/>
        </p:nvSpPr>
        <p:spPr>
          <a:xfrm>
            <a:off x="365760" y="3054096"/>
            <a:ext cx="457200" cy="594360"/>
          </a:xfrm>
          <a:prstGeom prst="rect">
            <a:avLst/>
          </a:prstGeom>
          <a:solidFill>
            <a:srgbClr val="0046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365760" y="3054096"/>
            <a:ext cx="457200" cy="307777"/>
          </a:xfrm>
          <a:prstGeom prst="rect">
            <a:avLst/>
          </a:prstGeom>
          <a:noFill/>
        </p:spPr>
        <p:txBody>
          <a:bodyPr wrap="square">
            <a:spAutoFit/>
          </a:bodyPr>
          <a:lstStyle/>
          <a:p>
            <a:pPr algn="ctr"/>
            <a:r>
              <a:rPr sz="1400" b="1" i="0">
                <a:solidFill>
                  <a:srgbClr val="FFFFFF"/>
                </a:solidFill>
                <a:latin typeface="Calibri"/>
              </a:rPr>
              <a:t>03</a:t>
            </a:r>
          </a:p>
        </p:txBody>
      </p:sp>
      <p:sp>
        <p:nvSpPr>
          <p:cNvPr id="16" name="TextBox 15"/>
          <p:cNvSpPr txBox="1"/>
          <p:nvPr/>
        </p:nvSpPr>
        <p:spPr>
          <a:xfrm>
            <a:off x="960120" y="3054096"/>
            <a:ext cx="5029200" cy="320040"/>
          </a:xfrm>
          <a:prstGeom prst="rect">
            <a:avLst/>
          </a:prstGeom>
          <a:noFill/>
        </p:spPr>
        <p:txBody>
          <a:bodyPr wrap="square">
            <a:spAutoFit/>
          </a:bodyPr>
          <a:lstStyle/>
          <a:p>
            <a:pPr algn="l"/>
            <a:r>
              <a:rPr sz="1400" b="1" i="0">
                <a:solidFill>
                  <a:srgbClr val="E2E8F0"/>
                </a:solidFill>
                <a:latin typeface="Calibri"/>
              </a:rPr>
              <a:t>Clinical NLP &amp; Cotiviti</a:t>
            </a:r>
          </a:p>
        </p:txBody>
      </p:sp>
      <p:sp>
        <p:nvSpPr>
          <p:cNvPr id="17" name="TextBox 16"/>
          <p:cNvSpPr txBox="1"/>
          <p:nvPr/>
        </p:nvSpPr>
        <p:spPr>
          <a:xfrm>
            <a:off x="960120" y="3328415"/>
            <a:ext cx="10515600" cy="320040"/>
          </a:xfrm>
          <a:prstGeom prst="rect">
            <a:avLst/>
          </a:prstGeom>
          <a:noFill/>
        </p:spPr>
        <p:txBody>
          <a:bodyPr wrap="square">
            <a:spAutoFit/>
          </a:bodyPr>
          <a:lstStyle/>
          <a:p>
            <a:pPr algn="l"/>
            <a:r>
              <a:rPr sz="1400" b="0" i="0">
                <a:solidFill>
                  <a:srgbClr val="94A3B8"/>
                </a:solidFill>
                <a:latin typeface="Calibri"/>
              </a:rPr>
              <a:t>Linking the technology to Cotiviti's business and the problem we solve</a:t>
            </a:r>
          </a:p>
        </p:txBody>
      </p:sp>
      <p:sp>
        <p:nvSpPr>
          <p:cNvPr id="18" name="Rectangle 17"/>
          <p:cNvSpPr/>
          <p:nvPr/>
        </p:nvSpPr>
        <p:spPr>
          <a:xfrm>
            <a:off x="365760" y="3895344"/>
            <a:ext cx="457200" cy="5943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365760" y="3895344"/>
            <a:ext cx="457200" cy="307777"/>
          </a:xfrm>
          <a:prstGeom prst="rect">
            <a:avLst/>
          </a:prstGeom>
          <a:noFill/>
        </p:spPr>
        <p:txBody>
          <a:bodyPr wrap="square">
            <a:spAutoFit/>
          </a:bodyPr>
          <a:lstStyle/>
          <a:p>
            <a:pPr algn="ctr"/>
            <a:r>
              <a:rPr sz="1400" b="1" i="0">
                <a:solidFill>
                  <a:srgbClr val="FFFFFF"/>
                </a:solidFill>
                <a:latin typeface="Calibri"/>
              </a:rPr>
              <a:t>04</a:t>
            </a:r>
          </a:p>
        </p:txBody>
      </p:sp>
      <p:sp>
        <p:nvSpPr>
          <p:cNvPr id="20" name="TextBox 19"/>
          <p:cNvSpPr txBox="1"/>
          <p:nvPr/>
        </p:nvSpPr>
        <p:spPr>
          <a:xfrm>
            <a:off x="960120" y="3895344"/>
            <a:ext cx="5029200" cy="320040"/>
          </a:xfrm>
          <a:prstGeom prst="rect">
            <a:avLst/>
          </a:prstGeom>
          <a:noFill/>
        </p:spPr>
        <p:txBody>
          <a:bodyPr wrap="square">
            <a:spAutoFit/>
          </a:bodyPr>
          <a:lstStyle/>
          <a:p>
            <a:pPr algn="l"/>
            <a:r>
              <a:rPr sz="1400" b="1" i="0">
                <a:solidFill>
                  <a:srgbClr val="E2E8F0"/>
                </a:solidFill>
                <a:latin typeface="Calibri"/>
              </a:rPr>
              <a:t>Opportunities &amp; Threats</a:t>
            </a:r>
          </a:p>
        </p:txBody>
      </p:sp>
      <p:sp>
        <p:nvSpPr>
          <p:cNvPr id="21" name="TextBox 20"/>
          <p:cNvSpPr txBox="1"/>
          <p:nvPr/>
        </p:nvSpPr>
        <p:spPr>
          <a:xfrm>
            <a:off x="960120" y="4169663"/>
            <a:ext cx="10515600" cy="320040"/>
          </a:xfrm>
          <a:prstGeom prst="rect">
            <a:avLst/>
          </a:prstGeom>
          <a:noFill/>
        </p:spPr>
        <p:txBody>
          <a:bodyPr wrap="square">
            <a:spAutoFit/>
          </a:bodyPr>
          <a:lstStyle/>
          <a:p>
            <a:pPr algn="l"/>
            <a:r>
              <a:rPr sz="1400" b="0" i="0">
                <a:solidFill>
                  <a:srgbClr val="94A3B8"/>
                </a:solidFill>
                <a:latin typeface="Calibri"/>
              </a:rPr>
              <a:t>What Cotiviti can gain - and what to watch out for</a:t>
            </a:r>
          </a:p>
        </p:txBody>
      </p:sp>
      <p:sp>
        <p:nvSpPr>
          <p:cNvPr id="22" name="Rectangle 21"/>
          <p:cNvSpPr/>
          <p:nvPr/>
        </p:nvSpPr>
        <p:spPr>
          <a:xfrm>
            <a:off x="365760" y="4736592"/>
            <a:ext cx="457200" cy="5943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365760" y="4736592"/>
            <a:ext cx="457200" cy="307777"/>
          </a:xfrm>
          <a:prstGeom prst="rect">
            <a:avLst/>
          </a:prstGeom>
          <a:noFill/>
        </p:spPr>
        <p:txBody>
          <a:bodyPr wrap="square">
            <a:spAutoFit/>
          </a:bodyPr>
          <a:lstStyle/>
          <a:p>
            <a:pPr algn="ctr"/>
            <a:r>
              <a:rPr sz="1400" b="1" i="0">
                <a:solidFill>
                  <a:srgbClr val="FFFFFF"/>
                </a:solidFill>
                <a:latin typeface="Calibri"/>
              </a:rPr>
              <a:t>05</a:t>
            </a:r>
          </a:p>
        </p:txBody>
      </p:sp>
      <p:sp>
        <p:nvSpPr>
          <p:cNvPr id="24" name="TextBox 23"/>
          <p:cNvSpPr txBox="1"/>
          <p:nvPr/>
        </p:nvSpPr>
        <p:spPr>
          <a:xfrm>
            <a:off x="960120" y="4736592"/>
            <a:ext cx="5029200" cy="320040"/>
          </a:xfrm>
          <a:prstGeom prst="rect">
            <a:avLst/>
          </a:prstGeom>
          <a:noFill/>
        </p:spPr>
        <p:txBody>
          <a:bodyPr wrap="square">
            <a:spAutoFit/>
          </a:bodyPr>
          <a:lstStyle/>
          <a:p>
            <a:pPr algn="l"/>
            <a:r>
              <a:rPr sz="1400" b="1" i="0">
                <a:solidFill>
                  <a:srgbClr val="E2E8F0"/>
                </a:solidFill>
                <a:latin typeface="Calibri"/>
              </a:rPr>
              <a:t>Strategic Recommendations</a:t>
            </a:r>
          </a:p>
        </p:txBody>
      </p:sp>
      <p:sp>
        <p:nvSpPr>
          <p:cNvPr id="25" name="TextBox 24"/>
          <p:cNvSpPr txBox="1"/>
          <p:nvPr/>
        </p:nvSpPr>
        <p:spPr>
          <a:xfrm>
            <a:off x="960120" y="5010912"/>
            <a:ext cx="10515600" cy="320040"/>
          </a:xfrm>
          <a:prstGeom prst="rect">
            <a:avLst/>
          </a:prstGeom>
          <a:noFill/>
        </p:spPr>
        <p:txBody>
          <a:bodyPr wrap="square">
            <a:spAutoFit/>
          </a:bodyPr>
          <a:lstStyle/>
          <a:p>
            <a:pPr algn="l"/>
            <a:r>
              <a:rPr sz="1400" b="0" i="0">
                <a:solidFill>
                  <a:srgbClr val="94A3B8"/>
                </a:solidFill>
                <a:latin typeface="Calibri"/>
              </a:rPr>
              <a:t>Three concrete options Cotiviti could pursue</a:t>
            </a:r>
          </a:p>
        </p:txBody>
      </p:sp>
      <p:sp>
        <p:nvSpPr>
          <p:cNvPr id="26" name="Rectangle 25"/>
          <p:cNvSpPr/>
          <p:nvPr/>
        </p:nvSpPr>
        <p:spPr>
          <a:xfrm>
            <a:off x="365760" y="5577840"/>
            <a:ext cx="457200" cy="5943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365760" y="5577840"/>
            <a:ext cx="457200" cy="307777"/>
          </a:xfrm>
          <a:prstGeom prst="rect">
            <a:avLst/>
          </a:prstGeom>
          <a:noFill/>
        </p:spPr>
        <p:txBody>
          <a:bodyPr wrap="square">
            <a:spAutoFit/>
          </a:bodyPr>
          <a:lstStyle/>
          <a:p>
            <a:pPr algn="ctr"/>
            <a:r>
              <a:rPr sz="1400" b="1" i="0">
                <a:solidFill>
                  <a:srgbClr val="FFFFFF"/>
                </a:solidFill>
                <a:latin typeface="Calibri"/>
              </a:rPr>
              <a:t>06</a:t>
            </a:r>
          </a:p>
        </p:txBody>
      </p:sp>
      <p:sp>
        <p:nvSpPr>
          <p:cNvPr id="28" name="TextBox 27"/>
          <p:cNvSpPr txBox="1"/>
          <p:nvPr/>
        </p:nvSpPr>
        <p:spPr>
          <a:xfrm>
            <a:off x="960120" y="5577840"/>
            <a:ext cx="5029200" cy="320040"/>
          </a:xfrm>
          <a:prstGeom prst="rect">
            <a:avLst/>
          </a:prstGeom>
          <a:noFill/>
        </p:spPr>
        <p:txBody>
          <a:bodyPr wrap="square">
            <a:spAutoFit/>
          </a:bodyPr>
          <a:lstStyle/>
          <a:p>
            <a:pPr algn="l"/>
            <a:r>
              <a:rPr sz="1400" b="1" i="0">
                <a:solidFill>
                  <a:srgbClr val="E2E8F0"/>
                </a:solidFill>
                <a:latin typeface="Calibri"/>
              </a:rPr>
              <a:t>Live POC Demo</a:t>
            </a:r>
          </a:p>
        </p:txBody>
      </p:sp>
      <p:sp>
        <p:nvSpPr>
          <p:cNvPr id="29" name="TextBox 28"/>
          <p:cNvSpPr txBox="1"/>
          <p:nvPr/>
        </p:nvSpPr>
        <p:spPr>
          <a:xfrm>
            <a:off x="960120" y="5852160"/>
            <a:ext cx="10515600" cy="320040"/>
          </a:xfrm>
          <a:prstGeom prst="rect">
            <a:avLst/>
          </a:prstGeom>
          <a:noFill/>
        </p:spPr>
        <p:txBody>
          <a:bodyPr wrap="square">
            <a:spAutoFit/>
          </a:bodyPr>
          <a:lstStyle/>
          <a:p>
            <a:pPr algn="l"/>
            <a:r>
              <a:rPr sz="1400" b="0" i="0">
                <a:solidFill>
                  <a:srgbClr val="94A3B8"/>
                </a:solidFill>
                <a:latin typeface="Calibri"/>
              </a:rPr>
              <a:t>ClinicalIQ - working prototype in action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 name="TextBox 2"/>
          <p:cNvSpPr txBox="1"/>
          <p:nvPr/>
        </p:nvSpPr>
        <p:spPr>
          <a:xfrm>
            <a:off x="365760" y="182880"/>
            <a:ext cx="10972800" cy="276999"/>
          </a:xfrm>
          <a:prstGeom prst="rect">
            <a:avLst/>
          </a:prstGeom>
          <a:noFill/>
        </p:spPr>
        <p:txBody>
          <a:bodyPr wrap="square">
            <a:spAutoFit/>
          </a:bodyPr>
          <a:lstStyle/>
          <a:p>
            <a:pPr algn="l"/>
            <a:r>
              <a:rPr sz="1200" b="1" i="0" dirty="0">
                <a:solidFill>
                  <a:srgbClr val="06B6D4"/>
                </a:solidFill>
                <a:latin typeface="Calibri"/>
              </a:rPr>
              <a:t>DEFINITION</a:t>
            </a:r>
          </a:p>
        </p:txBody>
      </p:sp>
      <p:sp>
        <p:nvSpPr>
          <p:cNvPr id="4" name="TextBox 3"/>
          <p:cNvSpPr txBox="1"/>
          <p:nvPr/>
        </p:nvSpPr>
        <p:spPr>
          <a:xfrm>
            <a:off x="365760" y="548640"/>
            <a:ext cx="10972800" cy="523220"/>
          </a:xfrm>
          <a:prstGeom prst="rect">
            <a:avLst/>
          </a:prstGeom>
          <a:noFill/>
        </p:spPr>
        <p:txBody>
          <a:bodyPr wrap="square">
            <a:spAutoFit/>
          </a:bodyPr>
          <a:lstStyle/>
          <a:p>
            <a:pPr algn="l"/>
            <a:r>
              <a:rPr sz="2800" b="1" i="0" dirty="0">
                <a:solidFill>
                  <a:srgbClr val="E2E8F0"/>
                </a:solidFill>
                <a:latin typeface="Calibri"/>
              </a:rPr>
              <a:t>What is Clinical NLP?</a:t>
            </a:r>
          </a:p>
        </p:txBody>
      </p:sp>
      <p:sp>
        <p:nvSpPr>
          <p:cNvPr id="5" name="Rectangle 4"/>
          <p:cNvSpPr/>
          <p:nvPr/>
        </p:nvSpPr>
        <p:spPr>
          <a:xfrm>
            <a:off x="365760" y="1188720"/>
            <a:ext cx="1097280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Rectangle 5"/>
          <p:cNvSpPr/>
          <p:nvPr/>
        </p:nvSpPr>
        <p:spPr>
          <a:xfrm>
            <a:off x="365760" y="1371600"/>
            <a:ext cx="5303520" cy="1371600"/>
          </a:xfrm>
          <a:prstGeom prst="rect">
            <a:avLst/>
          </a:prstGeom>
          <a:solidFill>
            <a:srgbClr val="0D1829"/>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TextBox 6"/>
          <p:cNvSpPr txBox="1"/>
          <p:nvPr/>
        </p:nvSpPr>
        <p:spPr>
          <a:xfrm>
            <a:off x="365760" y="1417320"/>
            <a:ext cx="5303520" cy="646331"/>
          </a:xfrm>
          <a:prstGeom prst="rect">
            <a:avLst/>
          </a:prstGeom>
          <a:noFill/>
        </p:spPr>
        <p:txBody>
          <a:bodyPr wrap="square">
            <a:spAutoFit/>
          </a:bodyPr>
          <a:lstStyle/>
          <a:p>
            <a:pPr algn="ctr"/>
            <a:r>
              <a:rPr sz="3600" b="1" i="0">
                <a:solidFill>
                  <a:srgbClr val="06B6D4"/>
                </a:solidFill>
                <a:latin typeface="Calibri"/>
              </a:rPr>
              <a:t>80%</a:t>
            </a:r>
          </a:p>
        </p:txBody>
      </p:sp>
      <p:sp>
        <p:nvSpPr>
          <p:cNvPr id="8" name="TextBox 7"/>
          <p:cNvSpPr txBox="1"/>
          <p:nvPr/>
        </p:nvSpPr>
        <p:spPr>
          <a:xfrm>
            <a:off x="365760" y="2008109"/>
            <a:ext cx="5303520" cy="523220"/>
          </a:xfrm>
          <a:prstGeom prst="rect">
            <a:avLst/>
          </a:prstGeom>
          <a:noFill/>
        </p:spPr>
        <p:txBody>
          <a:bodyPr wrap="square">
            <a:spAutoFit/>
          </a:bodyPr>
          <a:lstStyle/>
          <a:p>
            <a:pPr algn="ctr"/>
            <a:r>
              <a:rPr sz="1400" b="0" i="0" dirty="0">
                <a:solidFill>
                  <a:srgbClr val="94A3B8"/>
                </a:solidFill>
                <a:latin typeface="Calibri"/>
              </a:rPr>
              <a:t>of clinically relevant data
exists in unstructured free-text</a:t>
            </a:r>
          </a:p>
        </p:txBody>
      </p:sp>
      <p:sp>
        <p:nvSpPr>
          <p:cNvPr id="9" name="TextBox 8"/>
          <p:cNvSpPr txBox="1"/>
          <p:nvPr/>
        </p:nvSpPr>
        <p:spPr>
          <a:xfrm>
            <a:off x="365760" y="2435423"/>
            <a:ext cx="5303520" cy="307777"/>
          </a:xfrm>
          <a:prstGeom prst="rect">
            <a:avLst/>
          </a:prstGeom>
          <a:noFill/>
        </p:spPr>
        <p:txBody>
          <a:bodyPr wrap="square">
            <a:spAutoFit/>
          </a:bodyPr>
          <a:lstStyle/>
          <a:p>
            <a:pPr algn="ctr"/>
            <a:r>
              <a:rPr sz="1400" b="0" i="1" dirty="0">
                <a:solidFill>
                  <a:srgbClr val="475569"/>
                </a:solidFill>
                <a:latin typeface="Calibri"/>
              </a:rPr>
              <a:t>(Murdoch &amp; Detsky, 2013)</a:t>
            </a:r>
          </a:p>
        </p:txBody>
      </p:sp>
      <p:sp>
        <p:nvSpPr>
          <p:cNvPr id="10" name="TextBox 9"/>
          <p:cNvSpPr txBox="1"/>
          <p:nvPr/>
        </p:nvSpPr>
        <p:spPr>
          <a:xfrm>
            <a:off x="6035040" y="1371600"/>
            <a:ext cx="5760720" cy="738664"/>
          </a:xfrm>
          <a:prstGeom prst="rect">
            <a:avLst/>
          </a:prstGeom>
          <a:noFill/>
        </p:spPr>
        <p:txBody>
          <a:bodyPr wrap="square">
            <a:spAutoFit/>
          </a:bodyPr>
          <a:lstStyle/>
          <a:p>
            <a:pPr algn="l"/>
            <a:r>
              <a:rPr sz="1400" b="0" i="0">
                <a:solidFill>
                  <a:srgbClr val="94A3B8"/>
                </a:solidFill>
                <a:latin typeface="Calibri"/>
              </a:rPr>
              <a:t>Clinical NLP is software that reads doctor's notes the way a trained person would - finding diagnoses, medications, and findings - but doing it thousands of times faster.</a:t>
            </a:r>
          </a:p>
        </p:txBody>
      </p:sp>
      <p:sp>
        <p:nvSpPr>
          <p:cNvPr id="11" name="Rectangle 10"/>
          <p:cNvSpPr/>
          <p:nvPr/>
        </p:nvSpPr>
        <p:spPr>
          <a:xfrm>
            <a:off x="365760" y="3200400"/>
            <a:ext cx="2743200" cy="914400"/>
          </a:xfrm>
          <a:prstGeom prst="rect">
            <a:avLst/>
          </a:prstGeom>
          <a:solidFill>
            <a:srgbClr val="0D1829"/>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2" name="TextBox 11"/>
          <p:cNvSpPr txBox="1"/>
          <p:nvPr/>
        </p:nvSpPr>
        <p:spPr>
          <a:xfrm>
            <a:off x="365760" y="3291840"/>
            <a:ext cx="2743200" cy="523220"/>
          </a:xfrm>
          <a:prstGeom prst="rect">
            <a:avLst/>
          </a:prstGeom>
          <a:noFill/>
        </p:spPr>
        <p:txBody>
          <a:bodyPr wrap="square">
            <a:spAutoFit/>
          </a:bodyPr>
          <a:lstStyle/>
          <a:p>
            <a:pPr algn="ctr"/>
            <a:r>
              <a:rPr sz="1400" b="0" i="0">
                <a:solidFill>
                  <a:srgbClr val="E2E8F0"/>
                </a:solidFill>
                <a:latin typeface="Calibri"/>
              </a:rPr>
              <a:t>ICD-10 Coding
(billing codes for diagnoses)</a:t>
            </a:r>
          </a:p>
        </p:txBody>
      </p:sp>
      <p:sp>
        <p:nvSpPr>
          <p:cNvPr id="13" name="Rectangle 12"/>
          <p:cNvSpPr/>
          <p:nvPr/>
        </p:nvSpPr>
        <p:spPr>
          <a:xfrm>
            <a:off x="3291840" y="3200400"/>
            <a:ext cx="2743200" cy="914400"/>
          </a:xfrm>
          <a:prstGeom prst="rect">
            <a:avLst/>
          </a:prstGeom>
          <a:solidFill>
            <a:srgbClr val="0D1829"/>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3291840" y="3291840"/>
            <a:ext cx="2743200" cy="523220"/>
          </a:xfrm>
          <a:prstGeom prst="rect">
            <a:avLst/>
          </a:prstGeom>
          <a:noFill/>
        </p:spPr>
        <p:txBody>
          <a:bodyPr wrap="square">
            <a:spAutoFit/>
          </a:bodyPr>
          <a:lstStyle/>
          <a:p>
            <a:pPr algn="ctr"/>
            <a:r>
              <a:rPr sz="1400" b="0" i="0">
                <a:solidFill>
                  <a:srgbClr val="E2E8F0"/>
                </a:solidFill>
                <a:latin typeface="Calibri"/>
              </a:rPr>
              <a:t>HCC Risk Scores
(how sick = how much paid)</a:t>
            </a:r>
          </a:p>
        </p:txBody>
      </p:sp>
      <p:sp>
        <p:nvSpPr>
          <p:cNvPr id="15" name="Rectangle 14"/>
          <p:cNvSpPr/>
          <p:nvPr/>
        </p:nvSpPr>
        <p:spPr>
          <a:xfrm>
            <a:off x="6217920" y="3200400"/>
            <a:ext cx="2743200" cy="914400"/>
          </a:xfrm>
          <a:prstGeom prst="rect">
            <a:avLst/>
          </a:prstGeom>
          <a:solidFill>
            <a:srgbClr val="0D1829"/>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6" name="TextBox 15"/>
          <p:cNvSpPr txBox="1"/>
          <p:nvPr/>
        </p:nvSpPr>
        <p:spPr>
          <a:xfrm>
            <a:off x="6217920" y="3291840"/>
            <a:ext cx="2743200" cy="523220"/>
          </a:xfrm>
          <a:prstGeom prst="rect">
            <a:avLst/>
          </a:prstGeom>
          <a:noFill/>
        </p:spPr>
        <p:txBody>
          <a:bodyPr wrap="square">
            <a:spAutoFit/>
          </a:bodyPr>
          <a:lstStyle/>
          <a:p>
            <a:pPr algn="ctr"/>
            <a:r>
              <a:rPr sz="1400" b="0" i="0">
                <a:solidFill>
                  <a:srgbClr val="E2E8F0"/>
                </a:solidFill>
                <a:latin typeface="Calibri"/>
              </a:rPr>
              <a:t>Payment Accuracy
(right code = right payment)</a:t>
            </a:r>
          </a:p>
        </p:txBody>
      </p:sp>
      <p:sp>
        <p:nvSpPr>
          <p:cNvPr id="17" name="Rectangle 16"/>
          <p:cNvSpPr/>
          <p:nvPr/>
        </p:nvSpPr>
        <p:spPr>
          <a:xfrm>
            <a:off x="9144000" y="3200400"/>
            <a:ext cx="2743200" cy="914400"/>
          </a:xfrm>
          <a:prstGeom prst="rect">
            <a:avLst/>
          </a:prstGeom>
          <a:solidFill>
            <a:srgbClr val="0D1829"/>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8" name="TextBox 17"/>
          <p:cNvSpPr txBox="1"/>
          <p:nvPr/>
        </p:nvSpPr>
        <p:spPr>
          <a:xfrm>
            <a:off x="9144000" y="3291840"/>
            <a:ext cx="2743200" cy="523220"/>
          </a:xfrm>
          <a:prstGeom prst="rect">
            <a:avLst/>
          </a:prstGeom>
          <a:noFill/>
        </p:spPr>
        <p:txBody>
          <a:bodyPr wrap="square">
            <a:spAutoFit/>
          </a:bodyPr>
          <a:lstStyle/>
          <a:p>
            <a:pPr algn="ctr"/>
            <a:r>
              <a:rPr sz="1400" b="0" i="0">
                <a:solidFill>
                  <a:srgbClr val="E2E8F0"/>
                </a:solidFill>
                <a:latin typeface="Calibri"/>
              </a:rPr>
              <a:t>Chart Summarization
(key facts from long notes)</a:t>
            </a:r>
          </a:p>
        </p:txBody>
      </p:sp>
      <p:sp>
        <p:nvSpPr>
          <p:cNvPr id="19" name="Rectangle 18"/>
          <p:cNvSpPr/>
          <p:nvPr/>
        </p:nvSpPr>
        <p:spPr>
          <a:xfrm>
            <a:off x="365760" y="4389120"/>
            <a:ext cx="11430000" cy="822960"/>
          </a:xfrm>
          <a:prstGeom prst="rect">
            <a:avLst/>
          </a:prstGeom>
          <a:solidFill>
            <a:srgbClr val="0A1F3A"/>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0" name="TextBox 19"/>
          <p:cNvSpPr txBox="1"/>
          <p:nvPr/>
        </p:nvSpPr>
        <p:spPr>
          <a:xfrm>
            <a:off x="457200" y="4434840"/>
            <a:ext cx="11247120" cy="523220"/>
          </a:xfrm>
          <a:prstGeom prst="rect">
            <a:avLst/>
          </a:prstGeom>
          <a:noFill/>
        </p:spPr>
        <p:txBody>
          <a:bodyPr wrap="square">
            <a:spAutoFit/>
          </a:bodyPr>
          <a:lstStyle/>
          <a:p>
            <a:pPr algn="l"/>
            <a:r>
              <a:rPr sz="1400" b="0" i="0">
                <a:solidFill>
                  <a:srgbClr val="94A3B8"/>
                </a:solidFill>
                <a:latin typeface="Calibri"/>
              </a:rPr>
              <a:t>Think of it like this:  A doctor writes a long detailed note. A medical coder reads it and picks a billing code. Clinical NLP is that coder - automated, consistent, and running on thousands of charts at once.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 name="TextBox 2"/>
          <p:cNvSpPr txBox="1"/>
          <p:nvPr/>
        </p:nvSpPr>
        <p:spPr>
          <a:xfrm>
            <a:off x="365760" y="182880"/>
            <a:ext cx="10972800" cy="276999"/>
          </a:xfrm>
          <a:prstGeom prst="rect">
            <a:avLst/>
          </a:prstGeom>
          <a:noFill/>
        </p:spPr>
        <p:txBody>
          <a:bodyPr wrap="square">
            <a:spAutoFit/>
          </a:bodyPr>
          <a:lstStyle/>
          <a:p>
            <a:pPr algn="l"/>
            <a:r>
              <a:rPr sz="1200" b="1" i="0" dirty="0">
                <a:solidFill>
                  <a:srgbClr val="10B981"/>
                </a:solidFill>
                <a:latin typeface="Calibri"/>
              </a:rPr>
              <a:t>TECHNOLOGY EVOLUTION</a:t>
            </a:r>
          </a:p>
        </p:txBody>
      </p:sp>
      <p:sp>
        <p:nvSpPr>
          <p:cNvPr id="4" name="TextBox 3"/>
          <p:cNvSpPr txBox="1"/>
          <p:nvPr/>
        </p:nvSpPr>
        <p:spPr>
          <a:xfrm>
            <a:off x="365760" y="548640"/>
            <a:ext cx="10972800" cy="523220"/>
          </a:xfrm>
          <a:prstGeom prst="rect">
            <a:avLst/>
          </a:prstGeom>
          <a:noFill/>
        </p:spPr>
        <p:txBody>
          <a:bodyPr wrap="square">
            <a:spAutoFit/>
          </a:bodyPr>
          <a:lstStyle/>
          <a:p>
            <a:pPr algn="l"/>
            <a:r>
              <a:rPr sz="2800" b="1" i="0" dirty="0">
                <a:solidFill>
                  <a:srgbClr val="E2E8F0"/>
                </a:solidFill>
                <a:latin typeface="Calibri"/>
              </a:rPr>
              <a:t>Past, Present &amp; Future of Clinical NLP</a:t>
            </a:r>
          </a:p>
        </p:txBody>
      </p:sp>
      <p:sp>
        <p:nvSpPr>
          <p:cNvPr id="5" name="Rectangle 4"/>
          <p:cNvSpPr/>
          <p:nvPr/>
        </p:nvSpPr>
        <p:spPr>
          <a:xfrm>
            <a:off x="365760" y="1188720"/>
            <a:ext cx="109728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Rectangle 5"/>
          <p:cNvSpPr/>
          <p:nvPr/>
        </p:nvSpPr>
        <p:spPr>
          <a:xfrm>
            <a:off x="320040" y="1371600"/>
            <a:ext cx="3657600" cy="5120640"/>
          </a:xfrm>
          <a:prstGeom prst="rect">
            <a:avLst/>
          </a:prstGeom>
          <a:solidFill>
            <a:srgbClr val="1A1F2A"/>
          </a:solidFill>
          <a:ln w="1905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TextBox 6"/>
          <p:cNvSpPr txBox="1"/>
          <p:nvPr/>
        </p:nvSpPr>
        <p:spPr>
          <a:xfrm>
            <a:off x="320040" y="1417320"/>
            <a:ext cx="3657600" cy="523220"/>
          </a:xfrm>
          <a:prstGeom prst="rect">
            <a:avLst/>
          </a:prstGeom>
          <a:noFill/>
        </p:spPr>
        <p:txBody>
          <a:bodyPr wrap="square">
            <a:spAutoFit/>
          </a:bodyPr>
          <a:lstStyle/>
          <a:p>
            <a:pPr algn="ctr"/>
            <a:r>
              <a:rPr sz="1400" b="1" i="0">
                <a:solidFill>
                  <a:srgbClr val="475569"/>
                </a:solidFill>
                <a:latin typeface="Calibri"/>
              </a:rPr>
              <a:t>PAST
1990s - 2015</a:t>
            </a:r>
          </a:p>
        </p:txBody>
      </p:sp>
      <p:sp>
        <p:nvSpPr>
          <p:cNvPr id="8" name="TextBox 7"/>
          <p:cNvSpPr txBox="1"/>
          <p:nvPr/>
        </p:nvSpPr>
        <p:spPr>
          <a:xfrm>
            <a:off x="411479" y="2103120"/>
            <a:ext cx="3474720" cy="320040"/>
          </a:xfrm>
          <a:prstGeom prst="rect">
            <a:avLst/>
          </a:prstGeom>
          <a:noFill/>
        </p:spPr>
        <p:txBody>
          <a:bodyPr wrap="square">
            <a:spAutoFit/>
          </a:bodyPr>
          <a:lstStyle/>
          <a:p>
            <a:pPr algn="l"/>
            <a:r>
              <a:rPr sz="1400" b="0" i="0">
                <a:solidFill>
                  <a:srgbClr val="94A3B8"/>
                </a:solidFill>
                <a:latin typeface="Calibri"/>
              </a:rPr>
              <a:t>- Rule-Based NLP</a:t>
            </a:r>
          </a:p>
        </p:txBody>
      </p:sp>
      <p:sp>
        <p:nvSpPr>
          <p:cNvPr id="9" name="TextBox 8"/>
          <p:cNvSpPr txBox="1"/>
          <p:nvPr/>
        </p:nvSpPr>
        <p:spPr>
          <a:xfrm>
            <a:off x="411479" y="2423160"/>
            <a:ext cx="3474720" cy="320040"/>
          </a:xfrm>
          <a:prstGeom prst="rect">
            <a:avLst/>
          </a:prstGeom>
          <a:noFill/>
        </p:spPr>
        <p:txBody>
          <a:bodyPr wrap="square">
            <a:spAutoFit/>
          </a:bodyPr>
          <a:lstStyle/>
          <a:p>
            <a:pPr algn="l"/>
            <a:r>
              <a:rPr sz="1400" b="0" i="0">
                <a:solidFill>
                  <a:srgbClr val="94A3B8"/>
                </a:solidFill>
                <a:latin typeface="Calibri"/>
              </a:rPr>
              <a:t>- MetaMap / cTAKES</a:t>
            </a:r>
          </a:p>
        </p:txBody>
      </p:sp>
      <p:sp>
        <p:nvSpPr>
          <p:cNvPr id="10" name="TextBox 9"/>
          <p:cNvSpPr txBox="1"/>
          <p:nvPr/>
        </p:nvSpPr>
        <p:spPr>
          <a:xfrm>
            <a:off x="411479" y="2743200"/>
            <a:ext cx="3474720" cy="320040"/>
          </a:xfrm>
          <a:prstGeom prst="rect">
            <a:avLst/>
          </a:prstGeom>
          <a:noFill/>
        </p:spPr>
        <p:txBody>
          <a:bodyPr wrap="square">
            <a:spAutoFit/>
          </a:bodyPr>
          <a:lstStyle/>
          <a:p>
            <a:pPr algn="l"/>
            <a:r>
              <a:rPr sz="1400" b="0" i="0">
                <a:solidFill>
                  <a:srgbClr val="94A3B8"/>
                </a:solidFill>
                <a:latin typeface="Calibri"/>
              </a:rPr>
              <a:t>- i2b2 Corpora</a:t>
            </a:r>
          </a:p>
        </p:txBody>
      </p:sp>
      <p:sp>
        <p:nvSpPr>
          <p:cNvPr id="11" name="TextBox 10"/>
          <p:cNvSpPr txBox="1"/>
          <p:nvPr/>
        </p:nvSpPr>
        <p:spPr>
          <a:xfrm>
            <a:off x="411479" y="3063239"/>
            <a:ext cx="3474720" cy="320040"/>
          </a:xfrm>
          <a:prstGeom prst="rect">
            <a:avLst/>
          </a:prstGeom>
          <a:noFill/>
        </p:spPr>
        <p:txBody>
          <a:bodyPr wrap="square">
            <a:spAutoFit/>
          </a:bodyPr>
          <a:lstStyle/>
          <a:p>
            <a:pPr algn="l"/>
            <a:r>
              <a:rPr sz="1400" b="0" i="0">
                <a:solidFill>
                  <a:srgbClr val="94A3B8"/>
                </a:solidFill>
                <a:latin typeface="Calibri"/>
              </a:rPr>
              <a:t>- SVM / CRF</a:t>
            </a:r>
          </a:p>
        </p:txBody>
      </p:sp>
      <p:sp>
        <p:nvSpPr>
          <p:cNvPr id="12" name="TextBox 11"/>
          <p:cNvSpPr txBox="1"/>
          <p:nvPr/>
        </p:nvSpPr>
        <p:spPr>
          <a:xfrm>
            <a:off x="411479" y="3383279"/>
            <a:ext cx="3474720" cy="320040"/>
          </a:xfrm>
          <a:prstGeom prst="rect">
            <a:avLst/>
          </a:prstGeom>
          <a:noFill/>
        </p:spPr>
        <p:txBody>
          <a:bodyPr wrap="square">
            <a:spAutoFit/>
          </a:bodyPr>
          <a:lstStyle/>
          <a:p>
            <a:pPr algn="l"/>
            <a:r>
              <a:rPr sz="1400" b="0" i="0">
                <a:solidFill>
                  <a:srgbClr val="94A3B8"/>
                </a:solidFill>
                <a:latin typeface="Calibri"/>
              </a:rPr>
              <a:t>- UMLS Ontology</a:t>
            </a:r>
          </a:p>
        </p:txBody>
      </p:sp>
      <p:sp>
        <p:nvSpPr>
          <p:cNvPr id="13" name="Rectangle 12"/>
          <p:cNvSpPr/>
          <p:nvPr/>
        </p:nvSpPr>
        <p:spPr>
          <a:xfrm>
            <a:off x="411479" y="3794760"/>
            <a:ext cx="3474720" cy="18288"/>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4" name="TextBox 13"/>
          <p:cNvSpPr txBox="1"/>
          <p:nvPr/>
        </p:nvSpPr>
        <p:spPr>
          <a:xfrm>
            <a:off x="411479" y="3886200"/>
            <a:ext cx="3474720" cy="954107"/>
          </a:xfrm>
          <a:prstGeom prst="rect">
            <a:avLst/>
          </a:prstGeom>
          <a:noFill/>
        </p:spPr>
        <p:txBody>
          <a:bodyPr wrap="square">
            <a:spAutoFit/>
          </a:bodyPr>
          <a:lstStyle/>
          <a:p>
            <a:pPr algn="l"/>
            <a:r>
              <a:rPr sz="1400" b="0" i="1">
                <a:solidFill>
                  <a:srgbClr val="E2E8F0"/>
                </a:solidFill>
                <a:latin typeface="Calibri"/>
              </a:rPr>
              <a:t>Hand-coded rules.
If a note said exactly
'hypertension' it worked.
Anything else? It broke.</a:t>
            </a:r>
          </a:p>
        </p:txBody>
      </p:sp>
      <p:sp>
        <p:nvSpPr>
          <p:cNvPr id="15" name="TextBox 14"/>
          <p:cNvSpPr txBox="1"/>
          <p:nvPr/>
        </p:nvSpPr>
        <p:spPr>
          <a:xfrm>
            <a:off x="411479" y="5074920"/>
            <a:ext cx="3474720" cy="523220"/>
          </a:xfrm>
          <a:prstGeom prst="rect">
            <a:avLst/>
          </a:prstGeom>
          <a:noFill/>
        </p:spPr>
        <p:txBody>
          <a:bodyPr wrap="square">
            <a:spAutoFit/>
          </a:bodyPr>
          <a:lstStyle/>
          <a:p>
            <a:pPr algn="l"/>
            <a:r>
              <a:rPr sz="1400" b="0" i="0">
                <a:solidFill>
                  <a:srgbClr val="475569"/>
                </a:solidFill>
                <a:latin typeface="Calibri"/>
              </a:rPr>
              <a:t>Brittle - missed anything
not in the rule book</a:t>
            </a:r>
          </a:p>
        </p:txBody>
      </p:sp>
      <p:sp>
        <p:nvSpPr>
          <p:cNvPr id="16" name="Rectangle 15"/>
          <p:cNvSpPr/>
          <p:nvPr/>
        </p:nvSpPr>
        <p:spPr>
          <a:xfrm>
            <a:off x="4251959" y="1371600"/>
            <a:ext cx="3657600" cy="5120640"/>
          </a:xfrm>
          <a:prstGeom prst="rect">
            <a:avLst/>
          </a:prstGeom>
          <a:solidFill>
            <a:srgbClr val="0D1F3C"/>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7" name="TextBox 16"/>
          <p:cNvSpPr txBox="1"/>
          <p:nvPr/>
        </p:nvSpPr>
        <p:spPr>
          <a:xfrm>
            <a:off x="4251959" y="1417320"/>
            <a:ext cx="3657600" cy="523220"/>
          </a:xfrm>
          <a:prstGeom prst="rect">
            <a:avLst/>
          </a:prstGeom>
          <a:noFill/>
        </p:spPr>
        <p:txBody>
          <a:bodyPr wrap="square">
            <a:spAutoFit/>
          </a:bodyPr>
          <a:lstStyle/>
          <a:p>
            <a:pPr algn="ctr"/>
            <a:r>
              <a:rPr sz="1400" b="1" i="0">
                <a:solidFill>
                  <a:srgbClr val="3B82F6"/>
                </a:solidFill>
                <a:latin typeface="Calibri"/>
              </a:rPr>
              <a:t>PRESENT
2015 - 2023</a:t>
            </a:r>
          </a:p>
        </p:txBody>
      </p:sp>
      <p:sp>
        <p:nvSpPr>
          <p:cNvPr id="18" name="TextBox 17"/>
          <p:cNvSpPr txBox="1"/>
          <p:nvPr/>
        </p:nvSpPr>
        <p:spPr>
          <a:xfrm>
            <a:off x="4343399" y="2103120"/>
            <a:ext cx="3474720" cy="320040"/>
          </a:xfrm>
          <a:prstGeom prst="rect">
            <a:avLst/>
          </a:prstGeom>
          <a:noFill/>
        </p:spPr>
        <p:txBody>
          <a:bodyPr wrap="square">
            <a:spAutoFit/>
          </a:bodyPr>
          <a:lstStyle/>
          <a:p>
            <a:pPr algn="l"/>
            <a:r>
              <a:rPr sz="1400" b="0" i="0">
                <a:solidFill>
                  <a:srgbClr val="94A3B8"/>
                </a:solidFill>
                <a:latin typeface="Calibri"/>
              </a:rPr>
              <a:t>- BERT / BioBERT</a:t>
            </a:r>
          </a:p>
        </p:txBody>
      </p:sp>
      <p:sp>
        <p:nvSpPr>
          <p:cNvPr id="19" name="TextBox 18"/>
          <p:cNvSpPr txBox="1"/>
          <p:nvPr/>
        </p:nvSpPr>
        <p:spPr>
          <a:xfrm>
            <a:off x="4343399" y="2423160"/>
            <a:ext cx="3474720" cy="320040"/>
          </a:xfrm>
          <a:prstGeom prst="rect">
            <a:avLst/>
          </a:prstGeom>
          <a:noFill/>
        </p:spPr>
        <p:txBody>
          <a:bodyPr wrap="square">
            <a:spAutoFit/>
          </a:bodyPr>
          <a:lstStyle/>
          <a:p>
            <a:pPr algn="l"/>
            <a:r>
              <a:rPr sz="1400" b="0" i="0">
                <a:solidFill>
                  <a:srgbClr val="94A3B8"/>
                </a:solidFill>
                <a:latin typeface="Calibri"/>
              </a:rPr>
              <a:t>- ClinicalBERT</a:t>
            </a:r>
          </a:p>
        </p:txBody>
      </p:sp>
      <p:sp>
        <p:nvSpPr>
          <p:cNvPr id="20" name="TextBox 19"/>
          <p:cNvSpPr txBox="1"/>
          <p:nvPr/>
        </p:nvSpPr>
        <p:spPr>
          <a:xfrm>
            <a:off x="4343399" y="2743200"/>
            <a:ext cx="3474720" cy="320040"/>
          </a:xfrm>
          <a:prstGeom prst="rect">
            <a:avLst/>
          </a:prstGeom>
          <a:noFill/>
        </p:spPr>
        <p:txBody>
          <a:bodyPr wrap="square">
            <a:spAutoFit/>
          </a:bodyPr>
          <a:lstStyle/>
          <a:p>
            <a:pPr algn="l"/>
            <a:r>
              <a:rPr sz="1400" b="0" i="0">
                <a:solidFill>
                  <a:srgbClr val="94A3B8"/>
                </a:solidFill>
                <a:latin typeface="Calibri"/>
              </a:rPr>
              <a:t>- LayoutLM (OCR)</a:t>
            </a:r>
          </a:p>
        </p:txBody>
      </p:sp>
      <p:sp>
        <p:nvSpPr>
          <p:cNvPr id="21" name="TextBox 20"/>
          <p:cNvSpPr txBox="1"/>
          <p:nvPr/>
        </p:nvSpPr>
        <p:spPr>
          <a:xfrm>
            <a:off x="4343399" y="3063239"/>
            <a:ext cx="3474720" cy="320040"/>
          </a:xfrm>
          <a:prstGeom prst="rect">
            <a:avLst/>
          </a:prstGeom>
          <a:noFill/>
        </p:spPr>
        <p:txBody>
          <a:bodyPr wrap="square">
            <a:spAutoFit/>
          </a:bodyPr>
          <a:lstStyle/>
          <a:p>
            <a:pPr algn="l"/>
            <a:r>
              <a:rPr sz="1400" b="0" i="0">
                <a:solidFill>
                  <a:srgbClr val="94A3B8"/>
                </a:solidFill>
                <a:latin typeface="Calibri"/>
              </a:rPr>
              <a:t>- Computer Vision</a:t>
            </a:r>
          </a:p>
        </p:txBody>
      </p:sp>
      <p:sp>
        <p:nvSpPr>
          <p:cNvPr id="22" name="TextBox 21"/>
          <p:cNvSpPr txBox="1"/>
          <p:nvPr/>
        </p:nvSpPr>
        <p:spPr>
          <a:xfrm>
            <a:off x="4343399" y="3383279"/>
            <a:ext cx="3474720" cy="320040"/>
          </a:xfrm>
          <a:prstGeom prst="rect">
            <a:avLst/>
          </a:prstGeom>
          <a:noFill/>
        </p:spPr>
        <p:txBody>
          <a:bodyPr wrap="square">
            <a:spAutoFit/>
          </a:bodyPr>
          <a:lstStyle/>
          <a:p>
            <a:pPr algn="l"/>
            <a:r>
              <a:rPr sz="1400" b="0" i="0">
                <a:solidFill>
                  <a:srgbClr val="94A3B8"/>
                </a:solidFill>
                <a:latin typeface="Calibri"/>
              </a:rPr>
              <a:t>- MIMIC-III dataset</a:t>
            </a:r>
          </a:p>
        </p:txBody>
      </p:sp>
      <p:sp>
        <p:nvSpPr>
          <p:cNvPr id="23" name="Rectangle 22"/>
          <p:cNvSpPr/>
          <p:nvPr/>
        </p:nvSpPr>
        <p:spPr>
          <a:xfrm>
            <a:off x="4343399" y="3794760"/>
            <a:ext cx="3474720" cy="18288"/>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4" name="TextBox 23"/>
          <p:cNvSpPr txBox="1"/>
          <p:nvPr/>
        </p:nvSpPr>
        <p:spPr>
          <a:xfrm>
            <a:off x="4343399" y="3886200"/>
            <a:ext cx="3474720" cy="954107"/>
          </a:xfrm>
          <a:prstGeom prst="rect">
            <a:avLst/>
          </a:prstGeom>
          <a:noFill/>
        </p:spPr>
        <p:txBody>
          <a:bodyPr wrap="square">
            <a:spAutoFit/>
          </a:bodyPr>
          <a:lstStyle/>
          <a:p>
            <a:pPr algn="l"/>
            <a:r>
              <a:rPr sz="1400" b="0" i="1">
                <a:solidFill>
                  <a:srgbClr val="E2E8F0"/>
                </a:solidFill>
                <a:latin typeface="Calibri"/>
              </a:rPr>
              <a:t>Models trained on millions
of real medical records.
Learn patterns instead
of following rules.</a:t>
            </a:r>
          </a:p>
        </p:txBody>
      </p:sp>
      <p:sp>
        <p:nvSpPr>
          <p:cNvPr id="25" name="TextBox 24"/>
          <p:cNvSpPr txBox="1"/>
          <p:nvPr/>
        </p:nvSpPr>
        <p:spPr>
          <a:xfrm>
            <a:off x="4343399" y="5074920"/>
            <a:ext cx="3474720" cy="523220"/>
          </a:xfrm>
          <a:prstGeom prst="rect">
            <a:avLst/>
          </a:prstGeom>
          <a:noFill/>
        </p:spPr>
        <p:txBody>
          <a:bodyPr wrap="square">
            <a:spAutoFit/>
          </a:bodyPr>
          <a:lstStyle/>
          <a:p>
            <a:pPr algn="l"/>
            <a:r>
              <a:rPr sz="1400" b="0" i="0">
                <a:solidFill>
                  <a:srgbClr val="3B82F6"/>
                </a:solidFill>
                <a:latin typeface="Calibri"/>
              </a:rPr>
              <a:t>Still needs labeled
examples to train on</a:t>
            </a:r>
          </a:p>
        </p:txBody>
      </p:sp>
      <p:sp>
        <p:nvSpPr>
          <p:cNvPr id="26" name="Rectangle 25"/>
          <p:cNvSpPr/>
          <p:nvPr/>
        </p:nvSpPr>
        <p:spPr>
          <a:xfrm>
            <a:off x="8183879" y="1371600"/>
            <a:ext cx="3657600" cy="5120640"/>
          </a:xfrm>
          <a:prstGeom prst="rect">
            <a:avLst/>
          </a:prstGeom>
          <a:solidFill>
            <a:srgbClr val="021A0D"/>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7" name="TextBox 26"/>
          <p:cNvSpPr txBox="1"/>
          <p:nvPr/>
        </p:nvSpPr>
        <p:spPr>
          <a:xfrm>
            <a:off x="8183879" y="1417320"/>
            <a:ext cx="3657600" cy="523220"/>
          </a:xfrm>
          <a:prstGeom prst="rect">
            <a:avLst/>
          </a:prstGeom>
          <a:noFill/>
        </p:spPr>
        <p:txBody>
          <a:bodyPr wrap="square">
            <a:spAutoFit/>
          </a:bodyPr>
          <a:lstStyle/>
          <a:p>
            <a:pPr algn="ctr"/>
            <a:r>
              <a:rPr sz="1400" b="1" i="0">
                <a:solidFill>
                  <a:srgbClr val="10B981"/>
                </a:solidFill>
                <a:latin typeface="Calibri"/>
              </a:rPr>
              <a:t>FUTURE
2023 - Horizon</a:t>
            </a:r>
          </a:p>
        </p:txBody>
      </p:sp>
      <p:sp>
        <p:nvSpPr>
          <p:cNvPr id="28" name="TextBox 27"/>
          <p:cNvSpPr txBox="1"/>
          <p:nvPr/>
        </p:nvSpPr>
        <p:spPr>
          <a:xfrm>
            <a:off x="8275319" y="2103120"/>
            <a:ext cx="3474720" cy="320040"/>
          </a:xfrm>
          <a:prstGeom prst="rect">
            <a:avLst/>
          </a:prstGeom>
          <a:noFill/>
        </p:spPr>
        <p:txBody>
          <a:bodyPr wrap="square">
            <a:spAutoFit/>
          </a:bodyPr>
          <a:lstStyle/>
          <a:p>
            <a:pPr algn="l"/>
            <a:r>
              <a:rPr sz="1400" b="0" i="0">
                <a:solidFill>
                  <a:srgbClr val="94A3B8"/>
                </a:solidFill>
                <a:latin typeface="Calibri"/>
              </a:rPr>
              <a:t>- GPT-4 / Gemini</a:t>
            </a:r>
          </a:p>
        </p:txBody>
      </p:sp>
      <p:sp>
        <p:nvSpPr>
          <p:cNvPr id="29" name="TextBox 28"/>
          <p:cNvSpPr txBox="1"/>
          <p:nvPr/>
        </p:nvSpPr>
        <p:spPr>
          <a:xfrm>
            <a:off x="8275319" y="2423160"/>
            <a:ext cx="3474720" cy="320040"/>
          </a:xfrm>
          <a:prstGeom prst="rect">
            <a:avLst/>
          </a:prstGeom>
          <a:noFill/>
        </p:spPr>
        <p:txBody>
          <a:bodyPr wrap="square">
            <a:spAutoFit/>
          </a:bodyPr>
          <a:lstStyle/>
          <a:p>
            <a:pPr algn="l"/>
            <a:r>
              <a:rPr sz="1400" b="0" i="0">
                <a:solidFill>
                  <a:srgbClr val="94A3B8"/>
                </a:solidFill>
                <a:latin typeface="Calibri"/>
              </a:rPr>
              <a:t>- Med-PaLM 2</a:t>
            </a:r>
          </a:p>
        </p:txBody>
      </p:sp>
      <p:sp>
        <p:nvSpPr>
          <p:cNvPr id="30" name="TextBox 29"/>
          <p:cNvSpPr txBox="1"/>
          <p:nvPr/>
        </p:nvSpPr>
        <p:spPr>
          <a:xfrm>
            <a:off x="8275319" y="2743200"/>
            <a:ext cx="3474720" cy="320040"/>
          </a:xfrm>
          <a:prstGeom prst="rect">
            <a:avLst/>
          </a:prstGeom>
          <a:noFill/>
        </p:spPr>
        <p:txBody>
          <a:bodyPr wrap="square">
            <a:spAutoFit/>
          </a:bodyPr>
          <a:lstStyle/>
          <a:p>
            <a:pPr algn="l"/>
            <a:r>
              <a:rPr sz="1400" b="0" i="0">
                <a:solidFill>
                  <a:srgbClr val="94A3B8"/>
                </a:solidFill>
                <a:latin typeface="Calibri"/>
              </a:rPr>
              <a:t>- Agentic AI</a:t>
            </a:r>
          </a:p>
        </p:txBody>
      </p:sp>
      <p:sp>
        <p:nvSpPr>
          <p:cNvPr id="31" name="TextBox 30"/>
          <p:cNvSpPr txBox="1"/>
          <p:nvPr/>
        </p:nvSpPr>
        <p:spPr>
          <a:xfrm>
            <a:off x="8275319" y="3063239"/>
            <a:ext cx="3474720" cy="320040"/>
          </a:xfrm>
          <a:prstGeom prst="rect">
            <a:avLst/>
          </a:prstGeom>
          <a:noFill/>
        </p:spPr>
        <p:txBody>
          <a:bodyPr wrap="square">
            <a:spAutoFit/>
          </a:bodyPr>
          <a:lstStyle/>
          <a:p>
            <a:pPr algn="l"/>
            <a:r>
              <a:rPr sz="1400" b="0" i="0">
                <a:solidFill>
                  <a:srgbClr val="94A3B8"/>
                </a:solidFill>
                <a:latin typeface="Calibri"/>
              </a:rPr>
              <a:t>- Zero-shot Coding</a:t>
            </a:r>
          </a:p>
        </p:txBody>
      </p:sp>
      <p:sp>
        <p:nvSpPr>
          <p:cNvPr id="32" name="TextBox 31"/>
          <p:cNvSpPr txBox="1"/>
          <p:nvPr/>
        </p:nvSpPr>
        <p:spPr>
          <a:xfrm>
            <a:off x="8275319" y="3383279"/>
            <a:ext cx="3474720" cy="320040"/>
          </a:xfrm>
          <a:prstGeom prst="rect">
            <a:avLst/>
          </a:prstGeom>
          <a:noFill/>
        </p:spPr>
        <p:txBody>
          <a:bodyPr wrap="square">
            <a:spAutoFit/>
          </a:bodyPr>
          <a:lstStyle/>
          <a:p>
            <a:pPr algn="l"/>
            <a:r>
              <a:rPr sz="1400" b="0" i="0">
                <a:solidFill>
                  <a:srgbClr val="94A3B8"/>
                </a:solidFill>
                <a:latin typeface="Calibri"/>
              </a:rPr>
              <a:t>- Multimodal (text+image)</a:t>
            </a:r>
          </a:p>
        </p:txBody>
      </p:sp>
      <p:sp>
        <p:nvSpPr>
          <p:cNvPr id="33" name="Rectangle 32"/>
          <p:cNvSpPr/>
          <p:nvPr/>
        </p:nvSpPr>
        <p:spPr>
          <a:xfrm>
            <a:off x="8275319" y="3794760"/>
            <a:ext cx="3474720" cy="1828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4" name="TextBox 33"/>
          <p:cNvSpPr txBox="1"/>
          <p:nvPr/>
        </p:nvSpPr>
        <p:spPr>
          <a:xfrm>
            <a:off x="8275319" y="3886200"/>
            <a:ext cx="3474720" cy="1169551"/>
          </a:xfrm>
          <a:prstGeom prst="rect">
            <a:avLst/>
          </a:prstGeom>
          <a:noFill/>
        </p:spPr>
        <p:txBody>
          <a:bodyPr wrap="square">
            <a:spAutoFit/>
          </a:bodyPr>
          <a:lstStyle/>
          <a:p>
            <a:pPr algn="l"/>
            <a:r>
              <a:rPr sz="1400" b="0" i="1">
                <a:solidFill>
                  <a:srgbClr val="E2E8F0"/>
                </a:solidFill>
                <a:latin typeface="Calibri"/>
              </a:rPr>
              <a:t>Give it a note and
an instruction. Done.
No training data needed.
Med-PaLM 2 scores 85%
on medical licensing exams.</a:t>
            </a:r>
          </a:p>
        </p:txBody>
      </p:sp>
      <p:sp>
        <p:nvSpPr>
          <p:cNvPr id="35" name="TextBox 34"/>
          <p:cNvSpPr txBox="1"/>
          <p:nvPr/>
        </p:nvSpPr>
        <p:spPr>
          <a:xfrm>
            <a:off x="8275319" y="5074920"/>
            <a:ext cx="3474720" cy="738664"/>
          </a:xfrm>
          <a:prstGeom prst="rect">
            <a:avLst/>
          </a:prstGeom>
          <a:noFill/>
        </p:spPr>
        <p:txBody>
          <a:bodyPr wrap="square">
            <a:spAutoFit/>
          </a:bodyPr>
          <a:lstStyle/>
          <a:p>
            <a:pPr algn="l"/>
            <a:r>
              <a:rPr sz="1400" b="0" i="0">
                <a:solidFill>
                  <a:srgbClr val="10B981"/>
                </a:solidFill>
                <a:latin typeface="Calibri"/>
              </a:rPr>
              <a:t>Can hallucinate.
Regulations still
being written.</a:t>
            </a:r>
          </a:p>
        </p:txBody>
      </p:sp>
      <p:cxnSp>
        <p:nvCxnSpPr>
          <p:cNvPr id="39" name="Straight Arrow Connector 38">
            <a:extLst>
              <a:ext uri="{FF2B5EF4-FFF2-40B4-BE49-F238E27FC236}">
                <a16:creationId xmlns:a16="http://schemas.microsoft.com/office/drawing/2014/main" id="{5A3A962A-E34D-0EF4-6009-0C08504CB05E}"/>
              </a:ext>
            </a:extLst>
          </p:cNvPr>
          <p:cNvCxnSpPr>
            <a:cxnSpLocks/>
          </p:cNvCxnSpPr>
          <p:nvPr/>
        </p:nvCxnSpPr>
        <p:spPr>
          <a:xfrm>
            <a:off x="3977640" y="3429000"/>
            <a:ext cx="274319"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51B7AEB9-D694-1879-97F9-3D7B41101530}"/>
              </a:ext>
            </a:extLst>
          </p:cNvPr>
          <p:cNvCxnSpPr>
            <a:cxnSpLocks/>
          </p:cNvCxnSpPr>
          <p:nvPr/>
        </p:nvCxnSpPr>
        <p:spPr>
          <a:xfrm>
            <a:off x="7909559" y="3429000"/>
            <a:ext cx="27432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046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
            <a:ext cx="10972800" cy="320040"/>
          </a:xfrm>
          <a:prstGeom prst="rect">
            <a:avLst/>
          </a:prstGeom>
          <a:noFill/>
        </p:spPr>
        <p:txBody>
          <a:bodyPr wrap="square">
            <a:spAutoFit/>
          </a:bodyPr>
          <a:lstStyle/>
          <a:p>
            <a:pPr algn="l"/>
            <a:r>
              <a:rPr sz="900" b="1" i="0">
                <a:solidFill>
                  <a:srgbClr val="60A5FA"/>
                </a:solidFill>
                <a:latin typeface="Calibri"/>
              </a:rPr>
              <a:t>CONNECTING THE DOTS</a:t>
            </a:r>
          </a:p>
        </p:txBody>
      </p:sp>
      <p:sp>
        <p:nvSpPr>
          <p:cNvPr id="4" name="TextBox 3"/>
          <p:cNvSpPr txBox="1"/>
          <p:nvPr/>
        </p:nvSpPr>
        <p:spPr>
          <a:xfrm>
            <a:off x="365760" y="457200"/>
            <a:ext cx="10972800" cy="548640"/>
          </a:xfrm>
          <a:prstGeom prst="rect">
            <a:avLst/>
          </a:prstGeom>
          <a:noFill/>
        </p:spPr>
        <p:txBody>
          <a:bodyPr wrap="square">
            <a:spAutoFit/>
          </a:bodyPr>
          <a:lstStyle/>
          <a:p>
            <a:pPr algn="l"/>
            <a:r>
              <a:rPr sz="3000" b="1" i="0">
                <a:solidFill>
                  <a:srgbClr val="E2E8F0"/>
                </a:solidFill>
                <a:latin typeface="Calibri"/>
              </a:rPr>
              <a:t>Clinical NLP  +  Cotiviti</a:t>
            </a:r>
          </a:p>
        </p:txBody>
      </p:sp>
      <p:sp>
        <p:nvSpPr>
          <p:cNvPr id="5" name="Rectangle 4"/>
          <p:cNvSpPr/>
          <p:nvPr/>
        </p:nvSpPr>
        <p:spPr>
          <a:xfrm>
            <a:off x="365760" y="1097280"/>
            <a:ext cx="10972800" cy="36576"/>
          </a:xfrm>
          <a:prstGeom prst="rect">
            <a:avLst/>
          </a:prstGeom>
          <a:solidFill>
            <a:srgbClr val="0046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65760" y="1234440"/>
            <a:ext cx="5394960" cy="5303520"/>
          </a:xfrm>
          <a:prstGeom prst="rect">
            <a:avLst/>
          </a:prstGeom>
          <a:solidFill>
            <a:srgbClr val="081428"/>
          </a:solidFill>
          <a:ln w="19050">
            <a:solidFill>
              <a:srgbClr val="004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25880"/>
            <a:ext cx="5120640" cy="320040"/>
          </a:xfrm>
          <a:prstGeom prst="rect">
            <a:avLst/>
          </a:prstGeom>
          <a:noFill/>
        </p:spPr>
        <p:txBody>
          <a:bodyPr wrap="square">
            <a:spAutoFit/>
          </a:bodyPr>
          <a:lstStyle/>
          <a:p>
            <a:pPr algn="l"/>
            <a:r>
              <a:rPr sz="900" b="1" i="0">
                <a:solidFill>
                  <a:srgbClr val="60A5FA"/>
                </a:solidFill>
                <a:latin typeface="Calibri"/>
              </a:rPr>
              <a:t>WHO IS COTIVITI?</a:t>
            </a:r>
          </a:p>
        </p:txBody>
      </p:sp>
      <p:sp>
        <p:nvSpPr>
          <p:cNvPr id="8" name="TextBox 7"/>
          <p:cNvSpPr txBox="1"/>
          <p:nvPr/>
        </p:nvSpPr>
        <p:spPr>
          <a:xfrm>
            <a:off x="502920" y="1691640"/>
            <a:ext cx="5120640" cy="1645920"/>
          </a:xfrm>
          <a:prstGeom prst="rect">
            <a:avLst/>
          </a:prstGeom>
          <a:noFill/>
        </p:spPr>
        <p:txBody>
          <a:bodyPr wrap="square">
            <a:spAutoFit/>
          </a:bodyPr>
          <a:lstStyle/>
          <a:p>
            <a:pPr algn="l"/>
            <a:r>
              <a:rPr sz="1000" b="0" i="0">
                <a:solidFill>
                  <a:srgbClr val="94A3B8"/>
                </a:solidFill>
                <a:latin typeface="Calibri"/>
              </a:rPr>
              <a:t>Cotiviti is a data analytics company that works with health insurance companies - called payers - to make sure medical payments are accurate.
They audit the claims doctors submit, find errors, find missed diagnoses, and ensure money goes where it should. This is called Payment Integrity.</a:t>
            </a:r>
          </a:p>
        </p:txBody>
      </p:sp>
      <p:sp>
        <p:nvSpPr>
          <p:cNvPr id="9" name="TextBox 8"/>
          <p:cNvSpPr txBox="1"/>
          <p:nvPr/>
        </p:nvSpPr>
        <p:spPr>
          <a:xfrm>
            <a:off x="502920" y="3429000"/>
            <a:ext cx="5120640" cy="274320"/>
          </a:xfrm>
          <a:prstGeom prst="rect">
            <a:avLst/>
          </a:prstGeom>
          <a:noFill/>
        </p:spPr>
        <p:txBody>
          <a:bodyPr wrap="square">
            <a:spAutoFit/>
          </a:bodyPr>
          <a:lstStyle/>
          <a:p>
            <a:pPr algn="l"/>
            <a:r>
              <a:rPr sz="800" b="1" i="0">
                <a:solidFill>
                  <a:srgbClr val="00468B"/>
                </a:solidFill>
                <a:latin typeface="Calibri"/>
              </a:rPr>
              <a:t>KEY TERMS:</a:t>
            </a:r>
          </a:p>
        </p:txBody>
      </p:sp>
      <p:sp>
        <p:nvSpPr>
          <p:cNvPr id="10" name="Rectangle 9"/>
          <p:cNvSpPr/>
          <p:nvPr/>
        </p:nvSpPr>
        <p:spPr>
          <a:xfrm>
            <a:off x="502920" y="3749039"/>
            <a:ext cx="5120640" cy="502920"/>
          </a:xfrm>
          <a:prstGeom prst="rect">
            <a:avLst/>
          </a:prstGeom>
          <a:solidFill>
            <a:srgbClr val="0D1E3A"/>
          </a:solidFill>
          <a:ln w="6350">
            <a:solidFill>
              <a:srgbClr val="004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3767328"/>
            <a:ext cx="1371600" cy="256032"/>
          </a:xfrm>
          <a:prstGeom prst="rect">
            <a:avLst/>
          </a:prstGeom>
          <a:noFill/>
        </p:spPr>
        <p:txBody>
          <a:bodyPr wrap="square">
            <a:spAutoFit/>
          </a:bodyPr>
          <a:lstStyle/>
          <a:p>
            <a:pPr algn="l"/>
            <a:r>
              <a:rPr sz="900" b="1" i="0">
                <a:solidFill>
                  <a:srgbClr val="60A5FA"/>
                </a:solidFill>
                <a:latin typeface="Calibri"/>
              </a:rPr>
              <a:t>Payer</a:t>
            </a:r>
          </a:p>
        </p:txBody>
      </p:sp>
      <p:sp>
        <p:nvSpPr>
          <p:cNvPr id="12" name="TextBox 11"/>
          <p:cNvSpPr txBox="1"/>
          <p:nvPr/>
        </p:nvSpPr>
        <p:spPr>
          <a:xfrm>
            <a:off x="594360" y="3977639"/>
            <a:ext cx="4754880" cy="228600"/>
          </a:xfrm>
          <a:prstGeom prst="rect">
            <a:avLst/>
          </a:prstGeom>
          <a:noFill/>
        </p:spPr>
        <p:txBody>
          <a:bodyPr wrap="square">
            <a:spAutoFit/>
          </a:bodyPr>
          <a:lstStyle/>
          <a:p>
            <a:pPr algn="l"/>
            <a:r>
              <a:rPr sz="900" b="0" i="0">
                <a:solidFill>
                  <a:srgbClr val="94A3B8"/>
                </a:solidFill>
                <a:latin typeface="Calibri"/>
              </a:rPr>
              <a:t>The insurance company paying the bill</a:t>
            </a:r>
          </a:p>
        </p:txBody>
      </p:sp>
      <p:sp>
        <p:nvSpPr>
          <p:cNvPr id="13" name="Rectangle 12"/>
          <p:cNvSpPr/>
          <p:nvPr/>
        </p:nvSpPr>
        <p:spPr>
          <a:xfrm>
            <a:off x="502920" y="4315968"/>
            <a:ext cx="5120640" cy="502920"/>
          </a:xfrm>
          <a:prstGeom prst="rect">
            <a:avLst/>
          </a:prstGeom>
          <a:solidFill>
            <a:srgbClr val="0D1E3A"/>
          </a:solidFill>
          <a:ln w="6350">
            <a:solidFill>
              <a:srgbClr val="004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4334256"/>
            <a:ext cx="1371600" cy="256032"/>
          </a:xfrm>
          <a:prstGeom prst="rect">
            <a:avLst/>
          </a:prstGeom>
          <a:noFill/>
        </p:spPr>
        <p:txBody>
          <a:bodyPr wrap="square">
            <a:spAutoFit/>
          </a:bodyPr>
          <a:lstStyle/>
          <a:p>
            <a:pPr algn="l"/>
            <a:r>
              <a:rPr sz="900" b="1" i="0">
                <a:solidFill>
                  <a:srgbClr val="60A5FA"/>
                </a:solidFill>
                <a:latin typeface="Calibri"/>
              </a:rPr>
              <a:t>Claim</a:t>
            </a:r>
          </a:p>
        </p:txBody>
      </p:sp>
      <p:sp>
        <p:nvSpPr>
          <p:cNvPr id="15" name="TextBox 14"/>
          <p:cNvSpPr txBox="1"/>
          <p:nvPr/>
        </p:nvSpPr>
        <p:spPr>
          <a:xfrm>
            <a:off x="594360" y="4544568"/>
            <a:ext cx="4754880" cy="228600"/>
          </a:xfrm>
          <a:prstGeom prst="rect">
            <a:avLst/>
          </a:prstGeom>
          <a:noFill/>
        </p:spPr>
        <p:txBody>
          <a:bodyPr wrap="square">
            <a:spAutoFit/>
          </a:bodyPr>
          <a:lstStyle/>
          <a:p>
            <a:pPr algn="l"/>
            <a:r>
              <a:rPr sz="900" b="0" i="0">
                <a:solidFill>
                  <a:srgbClr val="94A3B8"/>
                </a:solidFill>
                <a:latin typeface="Calibri"/>
              </a:rPr>
              <a:t>The code + charge a doctor submits for treatment</a:t>
            </a:r>
          </a:p>
        </p:txBody>
      </p:sp>
      <p:sp>
        <p:nvSpPr>
          <p:cNvPr id="16" name="Rectangle 15"/>
          <p:cNvSpPr/>
          <p:nvPr/>
        </p:nvSpPr>
        <p:spPr>
          <a:xfrm>
            <a:off x="502920" y="4882896"/>
            <a:ext cx="5120640" cy="502920"/>
          </a:xfrm>
          <a:prstGeom prst="rect">
            <a:avLst/>
          </a:prstGeom>
          <a:solidFill>
            <a:srgbClr val="0D1E3A"/>
          </a:solidFill>
          <a:ln w="6350">
            <a:solidFill>
              <a:srgbClr val="004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4901184"/>
            <a:ext cx="1371600" cy="256032"/>
          </a:xfrm>
          <a:prstGeom prst="rect">
            <a:avLst/>
          </a:prstGeom>
          <a:noFill/>
        </p:spPr>
        <p:txBody>
          <a:bodyPr wrap="square">
            <a:spAutoFit/>
          </a:bodyPr>
          <a:lstStyle/>
          <a:p>
            <a:pPr algn="l"/>
            <a:r>
              <a:rPr sz="900" b="1" i="0">
                <a:solidFill>
                  <a:srgbClr val="60A5FA"/>
                </a:solidFill>
                <a:latin typeface="Calibri"/>
              </a:rPr>
              <a:t>Chart Review</a:t>
            </a:r>
          </a:p>
        </p:txBody>
      </p:sp>
      <p:sp>
        <p:nvSpPr>
          <p:cNvPr id="18" name="TextBox 17"/>
          <p:cNvSpPr txBox="1"/>
          <p:nvPr/>
        </p:nvSpPr>
        <p:spPr>
          <a:xfrm>
            <a:off x="594360" y="5111496"/>
            <a:ext cx="4754880" cy="228600"/>
          </a:xfrm>
          <a:prstGeom prst="rect">
            <a:avLst/>
          </a:prstGeom>
          <a:noFill/>
        </p:spPr>
        <p:txBody>
          <a:bodyPr wrap="square">
            <a:spAutoFit/>
          </a:bodyPr>
          <a:lstStyle/>
          <a:p>
            <a:pPr algn="l"/>
            <a:r>
              <a:rPr sz="900" b="0" i="0">
                <a:solidFill>
                  <a:srgbClr val="94A3B8"/>
                </a:solidFill>
                <a:latin typeface="Calibri"/>
              </a:rPr>
              <a:t>Auditing the doctor's actual notes for accuracy</a:t>
            </a:r>
          </a:p>
        </p:txBody>
      </p:sp>
      <p:sp>
        <p:nvSpPr>
          <p:cNvPr id="19" name="Rectangle 18"/>
          <p:cNvSpPr/>
          <p:nvPr/>
        </p:nvSpPr>
        <p:spPr>
          <a:xfrm>
            <a:off x="502920" y="5449823"/>
            <a:ext cx="5120640" cy="502920"/>
          </a:xfrm>
          <a:prstGeom prst="rect">
            <a:avLst/>
          </a:prstGeom>
          <a:solidFill>
            <a:srgbClr val="0D1E3A"/>
          </a:solidFill>
          <a:ln w="6350">
            <a:solidFill>
              <a:srgbClr val="004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94360" y="5468112"/>
            <a:ext cx="1371600" cy="256032"/>
          </a:xfrm>
          <a:prstGeom prst="rect">
            <a:avLst/>
          </a:prstGeom>
          <a:noFill/>
        </p:spPr>
        <p:txBody>
          <a:bodyPr wrap="square">
            <a:spAutoFit/>
          </a:bodyPr>
          <a:lstStyle/>
          <a:p>
            <a:pPr algn="l"/>
            <a:r>
              <a:rPr sz="900" b="1" i="0">
                <a:solidFill>
                  <a:srgbClr val="60A5FA"/>
                </a:solidFill>
                <a:latin typeface="Calibri"/>
              </a:rPr>
              <a:t>Payment Integrity</a:t>
            </a:r>
          </a:p>
        </p:txBody>
      </p:sp>
      <p:sp>
        <p:nvSpPr>
          <p:cNvPr id="21" name="TextBox 20"/>
          <p:cNvSpPr txBox="1"/>
          <p:nvPr/>
        </p:nvSpPr>
        <p:spPr>
          <a:xfrm>
            <a:off x="594360" y="5678423"/>
            <a:ext cx="4754880" cy="228600"/>
          </a:xfrm>
          <a:prstGeom prst="rect">
            <a:avLst/>
          </a:prstGeom>
          <a:noFill/>
        </p:spPr>
        <p:txBody>
          <a:bodyPr wrap="square">
            <a:spAutoFit/>
          </a:bodyPr>
          <a:lstStyle/>
          <a:p>
            <a:pPr algn="l"/>
            <a:r>
              <a:rPr sz="900" b="0" i="0">
                <a:solidFill>
                  <a:srgbClr val="94A3B8"/>
                </a:solidFill>
                <a:latin typeface="Calibri"/>
              </a:rPr>
              <a:t>Ensuring the right amount is paid for the right reason</a:t>
            </a:r>
          </a:p>
        </p:txBody>
      </p:sp>
      <p:sp>
        <p:nvSpPr>
          <p:cNvPr id="22" name="TextBox 21"/>
          <p:cNvSpPr txBox="1"/>
          <p:nvPr/>
        </p:nvSpPr>
        <p:spPr>
          <a:xfrm>
            <a:off x="5897880" y="3108960"/>
            <a:ext cx="457200" cy="548640"/>
          </a:xfrm>
          <a:prstGeom prst="rect">
            <a:avLst/>
          </a:prstGeom>
          <a:noFill/>
        </p:spPr>
        <p:txBody>
          <a:bodyPr wrap="square">
            <a:spAutoFit/>
          </a:bodyPr>
          <a:lstStyle/>
          <a:p>
            <a:pPr algn="ctr"/>
            <a:r>
              <a:rPr sz="2600" b="1" i="0">
                <a:solidFill>
                  <a:srgbClr val="06B6D4"/>
                </a:solidFill>
                <a:latin typeface="Calibri"/>
              </a:rPr>
              <a:t>-&gt;</a:t>
            </a:r>
          </a:p>
        </p:txBody>
      </p:sp>
      <p:sp>
        <p:nvSpPr>
          <p:cNvPr id="23" name="Rectangle 22"/>
          <p:cNvSpPr/>
          <p:nvPr/>
        </p:nvSpPr>
        <p:spPr>
          <a:xfrm>
            <a:off x="6492240" y="1234440"/>
            <a:ext cx="5394960" cy="5303520"/>
          </a:xfrm>
          <a:prstGeom prst="rect">
            <a:avLst/>
          </a:prstGeom>
          <a:solidFill>
            <a:srgbClr val="081428"/>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29400" y="1325880"/>
            <a:ext cx="5120640" cy="320040"/>
          </a:xfrm>
          <a:prstGeom prst="rect">
            <a:avLst/>
          </a:prstGeom>
          <a:noFill/>
        </p:spPr>
        <p:txBody>
          <a:bodyPr wrap="square">
            <a:spAutoFit/>
          </a:bodyPr>
          <a:lstStyle/>
          <a:p>
            <a:pPr algn="l"/>
            <a:r>
              <a:rPr sz="900" b="1" i="0">
                <a:solidFill>
                  <a:srgbClr val="06B6D4"/>
                </a:solidFill>
                <a:latin typeface="Calibri"/>
              </a:rPr>
              <a:t>THE PROBLEM WE'RE SOLVING</a:t>
            </a:r>
          </a:p>
        </p:txBody>
      </p:sp>
      <p:sp>
        <p:nvSpPr>
          <p:cNvPr id="25" name="TextBox 24"/>
          <p:cNvSpPr txBox="1"/>
          <p:nvPr/>
        </p:nvSpPr>
        <p:spPr>
          <a:xfrm>
            <a:off x="6629400" y="1691640"/>
            <a:ext cx="5120640" cy="1554480"/>
          </a:xfrm>
          <a:prstGeom prst="rect">
            <a:avLst/>
          </a:prstGeom>
          <a:noFill/>
        </p:spPr>
        <p:txBody>
          <a:bodyPr wrap="square">
            <a:spAutoFit/>
          </a:bodyPr>
          <a:lstStyle/>
          <a:p>
            <a:pPr algn="l"/>
            <a:r>
              <a:rPr sz="1000" b="0" i="0">
                <a:solidFill>
                  <a:srgbClr val="94A3B8"/>
                </a:solidFill>
                <a:latin typeface="Calibri"/>
              </a:rPr>
              <a:t>When a doctor treats a patient, they write a detailed note. That note is rich with clinical information.
But the insurance claim only includes a short billing code - selected by a human coder who may be reviewing 100 charts a day.</a:t>
            </a:r>
          </a:p>
        </p:txBody>
      </p:sp>
      <p:sp>
        <p:nvSpPr>
          <p:cNvPr id="26" name="Rectangle 25"/>
          <p:cNvSpPr/>
          <p:nvPr/>
        </p:nvSpPr>
        <p:spPr>
          <a:xfrm>
            <a:off x="6629400" y="3383280"/>
            <a:ext cx="5120640" cy="896112"/>
          </a:xfrm>
          <a:prstGeom prst="rect">
            <a:avLst/>
          </a:prstGeom>
          <a:solidFill>
            <a:srgbClr val="061D2A"/>
          </a:solidFill>
          <a:ln w="63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20840" y="3401568"/>
            <a:ext cx="4937760" cy="256032"/>
          </a:xfrm>
          <a:prstGeom prst="rect">
            <a:avLst/>
          </a:prstGeom>
          <a:noFill/>
        </p:spPr>
        <p:txBody>
          <a:bodyPr wrap="square">
            <a:spAutoFit/>
          </a:bodyPr>
          <a:lstStyle/>
          <a:p>
            <a:pPr algn="l"/>
            <a:r>
              <a:rPr sz="900" b="1" i="0">
                <a:solidFill>
                  <a:srgbClr val="06B6D4"/>
                </a:solidFill>
                <a:latin typeface="Calibri"/>
              </a:rPr>
              <a:t>Gap 1 - Wrong specificity</a:t>
            </a:r>
          </a:p>
        </p:txBody>
      </p:sp>
      <p:sp>
        <p:nvSpPr>
          <p:cNvPr id="28" name="TextBox 27"/>
          <p:cNvSpPr txBox="1"/>
          <p:nvPr/>
        </p:nvSpPr>
        <p:spPr>
          <a:xfrm>
            <a:off x="6720840" y="3639312"/>
            <a:ext cx="4937760" cy="594360"/>
          </a:xfrm>
          <a:prstGeom prst="rect">
            <a:avLst/>
          </a:prstGeom>
          <a:noFill/>
        </p:spPr>
        <p:txBody>
          <a:bodyPr wrap="square">
            <a:spAutoFit/>
          </a:bodyPr>
          <a:lstStyle/>
          <a:p>
            <a:pPr algn="l"/>
            <a:r>
              <a:rPr sz="900" b="0" i="0">
                <a:solidFill>
                  <a:srgbClr val="94A3B8"/>
                </a:solidFill>
                <a:latin typeface="Calibri"/>
              </a:rPr>
              <a:t>Doctor documents 'diabetes with high blood sugar'
Coder submits: E11  (general)
Correct code:  E11.65  (specific + higher value)</a:t>
            </a:r>
          </a:p>
        </p:txBody>
      </p:sp>
      <p:sp>
        <p:nvSpPr>
          <p:cNvPr id="29" name="Rectangle 28"/>
          <p:cNvSpPr/>
          <p:nvPr/>
        </p:nvSpPr>
        <p:spPr>
          <a:xfrm>
            <a:off x="6629400" y="4389120"/>
            <a:ext cx="5120640" cy="896112"/>
          </a:xfrm>
          <a:prstGeom prst="rect">
            <a:avLst/>
          </a:prstGeom>
          <a:solidFill>
            <a:srgbClr val="061D2A"/>
          </a:solidFill>
          <a:ln w="63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20840" y="4407408"/>
            <a:ext cx="4937760" cy="256032"/>
          </a:xfrm>
          <a:prstGeom prst="rect">
            <a:avLst/>
          </a:prstGeom>
          <a:noFill/>
        </p:spPr>
        <p:txBody>
          <a:bodyPr wrap="square">
            <a:spAutoFit/>
          </a:bodyPr>
          <a:lstStyle/>
          <a:p>
            <a:pPr algn="l"/>
            <a:r>
              <a:rPr sz="900" b="1" i="0">
                <a:solidFill>
                  <a:srgbClr val="06B6D4"/>
                </a:solidFill>
                <a:latin typeface="Calibri"/>
              </a:rPr>
              <a:t>Gap 2 - Missing diagnosis</a:t>
            </a:r>
          </a:p>
        </p:txBody>
      </p:sp>
      <p:sp>
        <p:nvSpPr>
          <p:cNvPr id="31" name="TextBox 30"/>
          <p:cNvSpPr txBox="1"/>
          <p:nvPr/>
        </p:nvSpPr>
        <p:spPr>
          <a:xfrm>
            <a:off x="6720840" y="4645152"/>
            <a:ext cx="4937760" cy="594360"/>
          </a:xfrm>
          <a:prstGeom prst="rect">
            <a:avLst/>
          </a:prstGeom>
          <a:noFill/>
        </p:spPr>
        <p:txBody>
          <a:bodyPr wrap="square">
            <a:spAutoFit/>
          </a:bodyPr>
          <a:lstStyle/>
          <a:p>
            <a:pPr algn="l"/>
            <a:r>
              <a:rPr sz="900" b="0" i="0">
                <a:solidFill>
                  <a:srgbClr val="94A3B8"/>
                </a:solidFill>
                <a:latin typeface="Calibri"/>
              </a:rPr>
              <a:t>Doctor's note mentions early kidney disease.
Coder misses it. An HCC risk score goes uncaptured.
That means less reimbursement for the health plan.</a:t>
            </a:r>
          </a:p>
        </p:txBody>
      </p:sp>
      <p:sp>
        <p:nvSpPr>
          <p:cNvPr id="32" name="Rectangle 31"/>
          <p:cNvSpPr/>
          <p:nvPr/>
        </p:nvSpPr>
        <p:spPr>
          <a:xfrm>
            <a:off x="6629400" y="5394960"/>
            <a:ext cx="5120640" cy="896112"/>
          </a:xfrm>
          <a:prstGeom prst="rect">
            <a:avLst/>
          </a:prstGeom>
          <a:solidFill>
            <a:srgbClr val="061D2A"/>
          </a:solidFill>
          <a:ln w="63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20840" y="5413248"/>
            <a:ext cx="4937760" cy="256032"/>
          </a:xfrm>
          <a:prstGeom prst="rect">
            <a:avLst/>
          </a:prstGeom>
          <a:noFill/>
        </p:spPr>
        <p:txBody>
          <a:bodyPr wrap="square">
            <a:spAutoFit/>
          </a:bodyPr>
          <a:lstStyle/>
          <a:p>
            <a:pPr algn="l"/>
            <a:r>
              <a:rPr sz="900" b="1" i="0">
                <a:solidFill>
                  <a:srgbClr val="06B6D4"/>
                </a:solidFill>
                <a:latin typeface="Calibri"/>
              </a:rPr>
              <a:t>Gap 3 - Scale problem</a:t>
            </a:r>
          </a:p>
        </p:txBody>
      </p:sp>
      <p:sp>
        <p:nvSpPr>
          <p:cNvPr id="34" name="TextBox 33"/>
          <p:cNvSpPr txBox="1"/>
          <p:nvPr/>
        </p:nvSpPr>
        <p:spPr>
          <a:xfrm>
            <a:off x="6720840" y="5650992"/>
            <a:ext cx="4937760" cy="594360"/>
          </a:xfrm>
          <a:prstGeom prst="rect">
            <a:avLst/>
          </a:prstGeom>
          <a:noFill/>
        </p:spPr>
        <p:txBody>
          <a:bodyPr wrap="square">
            <a:spAutoFit/>
          </a:bodyPr>
          <a:lstStyle/>
          <a:p>
            <a:pPr algn="l"/>
            <a:r>
              <a:rPr sz="900" b="0" i="0">
                <a:solidFill>
                  <a:srgbClr val="94A3B8"/>
                </a:solidFill>
                <a:latin typeface="Calibri"/>
              </a:rPr>
              <a:t>Cotiviti's clients process millions of claims.
Human auditors can check ~15 charts per day.
AI can check thousands per hour.</a:t>
            </a:r>
          </a:p>
        </p:txBody>
      </p:sp>
      <p:sp>
        <p:nvSpPr>
          <p:cNvPr id="35" name="Rectangle 34"/>
          <p:cNvSpPr/>
          <p:nvPr/>
        </p:nvSpPr>
        <p:spPr>
          <a:xfrm>
            <a:off x="365760" y="6492240"/>
            <a:ext cx="11430000" cy="274320"/>
          </a:xfrm>
          <a:prstGeom prst="rect">
            <a:avLst/>
          </a:prstGeom>
          <a:solidFill>
            <a:srgbClr val="051025"/>
          </a:solidFill>
          <a:ln w="6350">
            <a:solidFill>
              <a:srgbClr val="0046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7200" y="6510528"/>
            <a:ext cx="11247120" cy="228600"/>
          </a:xfrm>
          <a:prstGeom prst="rect">
            <a:avLst/>
          </a:prstGeom>
          <a:noFill/>
        </p:spPr>
        <p:txBody>
          <a:bodyPr wrap="square">
            <a:spAutoFit/>
          </a:bodyPr>
          <a:lstStyle/>
          <a:p>
            <a:pPr algn="ctr"/>
            <a:r>
              <a:rPr sz="900" b="1" i="0">
                <a:solidFill>
                  <a:srgbClr val="E2E8F0"/>
                </a:solidFill>
                <a:latin typeface="Calibri"/>
              </a:rPr>
              <a:t>Clinical NLP is the technology that closes these gaps - automatically, at scale, without proportional labor cost.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 name="TextBox 2"/>
          <p:cNvSpPr txBox="1"/>
          <p:nvPr/>
        </p:nvSpPr>
        <p:spPr>
          <a:xfrm>
            <a:off x="365760" y="182880"/>
            <a:ext cx="10972800" cy="276999"/>
          </a:xfrm>
          <a:prstGeom prst="rect">
            <a:avLst/>
          </a:prstGeom>
          <a:noFill/>
        </p:spPr>
        <p:txBody>
          <a:bodyPr wrap="square">
            <a:spAutoFit/>
          </a:bodyPr>
          <a:lstStyle/>
          <a:p>
            <a:pPr algn="l"/>
            <a:r>
              <a:rPr sz="1200" b="1" i="0">
                <a:solidFill>
                  <a:srgbClr val="F59E0B"/>
                </a:solidFill>
                <a:latin typeface="Calibri"/>
              </a:rPr>
              <a:t>STRATEGIC ANALYSIS</a:t>
            </a:r>
          </a:p>
        </p:txBody>
      </p:sp>
      <p:sp>
        <p:nvSpPr>
          <p:cNvPr id="4" name="TextBox 3"/>
          <p:cNvSpPr txBox="1"/>
          <p:nvPr/>
        </p:nvSpPr>
        <p:spPr>
          <a:xfrm>
            <a:off x="365760" y="548640"/>
            <a:ext cx="10972800" cy="523220"/>
          </a:xfrm>
          <a:prstGeom prst="rect">
            <a:avLst/>
          </a:prstGeom>
          <a:noFill/>
        </p:spPr>
        <p:txBody>
          <a:bodyPr wrap="square">
            <a:spAutoFit/>
          </a:bodyPr>
          <a:lstStyle/>
          <a:p>
            <a:pPr algn="l"/>
            <a:r>
              <a:rPr sz="2800" b="1" i="0" dirty="0">
                <a:solidFill>
                  <a:srgbClr val="E2E8F0"/>
                </a:solidFill>
                <a:latin typeface="Calibri"/>
              </a:rPr>
              <a:t>Opportunities for Cotiviti</a:t>
            </a:r>
          </a:p>
        </p:txBody>
      </p:sp>
      <p:sp>
        <p:nvSpPr>
          <p:cNvPr id="5" name="Rectangle 4"/>
          <p:cNvSpPr/>
          <p:nvPr/>
        </p:nvSpPr>
        <p:spPr>
          <a:xfrm>
            <a:off x="365760" y="1188720"/>
            <a:ext cx="109728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Rectangle 5"/>
          <p:cNvSpPr/>
          <p:nvPr/>
        </p:nvSpPr>
        <p:spPr>
          <a:xfrm>
            <a:off x="365760" y="1371600"/>
            <a:ext cx="73152" cy="7772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 name="Rectangle 6"/>
          <p:cNvSpPr/>
          <p:nvPr/>
        </p:nvSpPr>
        <p:spPr>
          <a:xfrm>
            <a:off x="457200" y="1371600"/>
            <a:ext cx="11247120" cy="777240"/>
          </a:xfrm>
          <a:prstGeom prst="rect">
            <a:avLst/>
          </a:prstGeom>
          <a:solidFill>
            <a:srgbClr val="0D18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594360" y="1408176"/>
            <a:ext cx="6858000" cy="276999"/>
          </a:xfrm>
          <a:prstGeom prst="rect">
            <a:avLst/>
          </a:prstGeom>
          <a:noFill/>
        </p:spPr>
        <p:txBody>
          <a:bodyPr wrap="square">
            <a:spAutoFit/>
          </a:bodyPr>
          <a:lstStyle/>
          <a:p>
            <a:pPr algn="l"/>
            <a:r>
              <a:rPr sz="1200" b="1" i="0">
                <a:solidFill>
                  <a:srgbClr val="E2E8F0"/>
                </a:solidFill>
                <a:latin typeface="Calibri"/>
              </a:rPr>
              <a:t>Automated Chart Review</a:t>
            </a:r>
          </a:p>
        </p:txBody>
      </p:sp>
      <p:sp>
        <p:nvSpPr>
          <p:cNvPr id="9" name="TextBox 8"/>
          <p:cNvSpPr txBox="1"/>
          <p:nvPr/>
        </p:nvSpPr>
        <p:spPr>
          <a:xfrm>
            <a:off x="594360" y="1673352"/>
            <a:ext cx="8229600" cy="276999"/>
          </a:xfrm>
          <a:prstGeom prst="rect">
            <a:avLst/>
          </a:prstGeom>
          <a:noFill/>
        </p:spPr>
        <p:txBody>
          <a:bodyPr wrap="square">
            <a:spAutoFit/>
          </a:bodyPr>
          <a:lstStyle/>
          <a:p>
            <a:pPr algn="l"/>
            <a:r>
              <a:rPr sz="1200" b="0" i="0">
                <a:solidFill>
                  <a:srgbClr val="94A3B8"/>
                </a:solidFill>
                <a:latin typeface="Calibri"/>
              </a:rPr>
              <a:t>Right now, a human auditor reads ~15 charts per day. An AI system handles thousands per hour - same work, fraction of the time.</a:t>
            </a:r>
          </a:p>
        </p:txBody>
      </p:sp>
      <p:sp>
        <p:nvSpPr>
          <p:cNvPr id="10" name="TextBox 9"/>
          <p:cNvSpPr txBox="1"/>
          <p:nvPr/>
        </p:nvSpPr>
        <p:spPr>
          <a:xfrm>
            <a:off x="8961120" y="1618488"/>
            <a:ext cx="2743200" cy="276999"/>
          </a:xfrm>
          <a:prstGeom prst="rect">
            <a:avLst/>
          </a:prstGeom>
          <a:noFill/>
        </p:spPr>
        <p:txBody>
          <a:bodyPr wrap="square">
            <a:spAutoFit/>
          </a:bodyPr>
          <a:lstStyle/>
          <a:p>
            <a:pPr algn="r"/>
            <a:r>
              <a:rPr sz="1200" b="1" i="0">
                <a:solidFill>
                  <a:srgbClr val="10B981"/>
                </a:solidFill>
                <a:latin typeface="Calibri"/>
              </a:rPr>
              <a:t>60-70% reduction in review cycle time</a:t>
            </a:r>
          </a:p>
        </p:txBody>
      </p:sp>
      <p:sp>
        <p:nvSpPr>
          <p:cNvPr id="11" name="Rectangle 10"/>
          <p:cNvSpPr/>
          <p:nvPr/>
        </p:nvSpPr>
        <p:spPr>
          <a:xfrm>
            <a:off x="365760" y="2304288"/>
            <a:ext cx="73152" cy="77724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2" name="Rectangle 11"/>
          <p:cNvSpPr/>
          <p:nvPr/>
        </p:nvSpPr>
        <p:spPr>
          <a:xfrm>
            <a:off x="457200" y="2304288"/>
            <a:ext cx="11247120" cy="777240"/>
          </a:xfrm>
          <a:prstGeom prst="rect">
            <a:avLst/>
          </a:prstGeom>
          <a:solidFill>
            <a:srgbClr val="0D18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3" name="TextBox 12"/>
          <p:cNvSpPr txBox="1"/>
          <p:nvPr/>
        </p:nvSpPr>
        <p:spPr>
          <a:xfrm>
            <a:off x="594360" y="2340864"/>
            <a:ext cx="6858000" cy="276999"/>
          </a:xfrm>
          <a:prstGeom prst="rect">
            <a:avLst/>
          </a:prstGeom>
          <a:noFill/>
        </p:spPr>
        <p:txBody>
          <a:bodyPr wrap="square">
            <a:spAutoFit/>
          </a:bodyPr>
          <a:lstStyle/>
          <a:p>
            <a:pPr algn="l"/>
            <a:r>
              <a:rPr sz="1200" b="1" i="0">
                <a:solidFill>
                  <a:srgbClr val="E2E8F0"/>
                </a:solidFill>
                <a:latin typeface="Calibri"/>
              </a:rPr>
              <a:t>HCC Capture - Finding Missed Diagnoses</a:t>
            </a:r>
          </a:p>
        </p:txBody>
      </p:sp>
      <p:sp>
        <p:nvSpPr>
          <p:cNvPr id="14" name="TextBox 13"/>
          <p:cNvSpPr txBox="1"/>
          <p:nvPr/>
        </p:nvSpPr>
        <p:spPr>
          <a:xfrm>
            <a:off x="594360" y="2606040"/>
            <a:ext cx="8229600" cy="461665"/>
          </a:xfrm>
          <a:prstGeom prst="rect">
            <a:avLst/>
          </a:prstGeom>
          <a:noFill/>
        </p:spPr>
        <p:txBody>
          <a:bodyPr wrap="square">
            <a:spAutoFit/>
          </a:bodyPr>
          <a:lstStyle/>
          <a:p>
            <a:pPr algn="l"/>
            <a:r>
              <a:rPr sz="1200" b="0" i="0" dirty="0">
                <a:solidFill>
                  <a:srgbClr val="94A3B8"/>
                </a:solidFill>
                <a:latin typeface="Calibri"/>
              </a:rPr>
              <a:t>HCC = Hierarchical Condition Category. It's a scoring system where sicker patients mean higher payments to the health plan. If a diagnosis is in the doctor's note but never coded, that score - and that revenue - is lost. NLP finds those gaps.</a:t>
            </a:r>
          </a:p>
        </p:txBody>
      </p:sp>
      <p:sp>
        <p:nvSpPr>
          <p:cNvPr id="15" name="TextBox 14"/>
          <p:cNvSpPr txBox="1"/>
          <p:nvPr/>
        </p:nvSpPr>
        <p:spPr>
          <a:xfrm>
            <a:off x="8961120" y="2551176"/>
            <a:ext cx="2743200" cy="461665"/>
          </a:xfrm>
          <a:prstGeom prst="rect">
            <a:avLst/>
          </a:prstGeom>
          <a:noFill/>
        </p:spPr>
        <p:txBody>
          <a:bodyPr wrap="square">
            <a:spAutoFit/>
          </a:bodyPr>
          <a:lstStyle/>
          <a:p>
            <a:pPr algn="r"/>
            <a:r>
              <a:rPr sz="1200" b="1" i="0">
                <a:solidFill>
                  <a:srgbClr val="06B6D4"/>
                </a:solidFill>
                <a:latin typeface="Calibri"/>
              </a:rPr>
              <a:t>15-25% improvement in risk score capture</a:t>
            </a:r>
          </a:p>
        </p:txBody>
      </p:sp>
      <p:sp>
        <p:nvSpPr>
          <p:cNvPr id="16" name="Rectangle 15"/>
          <p:cNvSpPr/>
          <p:nvPr/>
        </p:nvSpPr>
        <p:spPr>
          <a:xfrm>
            <a:off x="365760" y="3236976"/>
            <a:ext cx="73152" cy="7772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7" name="Rectangle 16"/>
          <p:cNvSpPr/>
          <p:nvPr/>
        </p:nvSpPr>
        <p:spPr>
          <a:xfrm>
            <a:off x="457200" y="3236976"/>
            <a:ext cx="11247120" cy="777240"/>
          </a:xfrm>
          <a:prstGeom prst="rect">
            <a:avLst/>
          </a:prstGeom>
          <a:solidFill>
            <a:srgbClr val="0D18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8" name="TextBox 17"/>
          <p:cNvSpPr txBox="1"/>
          <p:nvPr/>
        </p:nvSpPr>
        <p:spPr>
          <a:xfrm>
            <a:off x="594360" y="3273552"/>
            <a:ext cx="6858000" cy="276999"/>
          </a:xfrm>
          <a:prstGeom prst="rect">
            <a:avLst/>
          </a:prstGeom>
          <a:noFill/>
        </p:spPr>
        <p:txBody>
          <a:bodyPr wrap="square">
            <a:spAutoFit/>
          </a:bodyPr>
          <a:lstStyle/>
          <a:p>
            <a:pPr algn="l"/>
            <a:r>
              <a:rPr sz="1200" b="1" i="0" dirty="0">
                <a:solidFill>
                  <a:srgbClr val="E2E8F0"/>
                </a:solidFill>
                <a:latin typeface="Calibri"/>
              </a:rPr>
              <a:t>ICD-10 Specificity - Right Code, Right Payment</a:t>
            </a:r>
          </a:p>
        </p:txBody>
      </p:sp>
      <p:sp>
        <p:nvSpPr>
          <p:cNvPr id="19" name="TextBox 18"/>
          <p:cNvSpPr txBox="1"/>
          <p:nvPr/>
        </p:nvSpPr>
        <p:spPr>
          <a:xfrm>
            <a:off x="594360" y="3538728"/>
            <a:ext cx="8229600" cy="461665"/>
          </a:xfrm>
          <a:prstGeom prst="rect">
            <a:avLst/>
          </a:prstGeom>
          <a:noFill/>
        </p:spPr>
        <p:txBody>
          <a:bodyPr wrap="square">
            <a:spAutoFit/>
          </a:bodyPr>
          <a:lstStyle/>
          <a:p>
            <a:pPr algn="l"/>
            <a:r>
              <a:rPr sz="1200" b="0" i="0" dirty="0">
                <a:solidFill>
                  <a:srgbClr val="94A3B8"/>
                </a:solidFill>
                <a:latin typeface="Calibri"/>
              </a:rPr>
              <a:t>There's a big difference between a general diabetes code and a specific one. E11 = general. E11.65 = Type 2 diabetes with high blood sugar. More specific codes are more accurate and affect payment. NLP gets to the right one.</a:t>
            </a:r>
          </a:p>
        </p:txBody>
      </p:sp>
      <p:sp>
        <p:nvSpPr>
          <p:cNvPr id="20" name="TextBox 19"/>
          <p:cNvSpPr txBox="1"/>
          <p:nvPr/>
        </p:nvSpPr>
        <p:spPr>
          <a:xfrm>
            <a:off x="8961120" y="3483864"/>
            <a:ext cx="2743200" cy="276999"/>
          </a:xfrm>
          <a:prstGeom prst="rect">
            <a:avLst/>
          </a:prstGeom>
          <a:noFill/>
        </p:spPr>
        <p:txBody>
          <a:bodyPr wrap="square">
            <a:spAutoFit/>
          </a:bodyPr>
          <a:lstStyle/>
          <a:p>
            <a:pPr algn="r"/>
            <a:r>
              <a:rPr sz="1200" b="1" i="0">
                <a:solidFill>
                  <a:srgbClr val="F59E0B"/>
                </a:solidFill>
                <a:latin typeface="Calibri"/>
              </a:rPr>
              <a:t>Direct impact on claim accuracy</a:t>
            </a:r>
          </a:p>
        </p:txBody>
      </p:sp>
      <p:sp>
        <p:nvSpPr>
          <p:cNvPr id="21" name="Rectangle 20"/>
          <p:cNvSpPr/>
          <p:nvPr/>
        </p:nvSpPr>
        <p:spPr>
          <a:xfrm>
            <a:off x="365760" y="4169664"/>
            <a:ext cx="73152" cy="77724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2" name="Rectangle 21"/>
          <p:cNvSpPr/>
          <p:nvPr/>
        </p:nvSpPr>
        <p:spPr>
          <a:xfrm>
            <a:off x="457200" y="4169664"/>
            <a:ext cx="11247120" cy="777240"/>
          </a:xfrm>
          <a:prstGeom prst="rect">
            <a:avLst/>
          </a:prstGeom>
          <a:solidFill>
            <a:srgbClr val="0D18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3" name="TextBox 22"/>
          <p:cNvSpPr txBox="1"/>
          <p:nvPr/>
        </p:nvSpPr>
        <p:spPr>
          <a:xfrm>
            <a:off x="594360" y="4206240"/>
            <a:ext cx="6858000" cy="276999"/>
          </a:xfrm>
          <a:prstGeom prst="rect">
            <a:avLst/>
          </a:prstGeom>
          <a:noFill/>
        </p:spPr>
        <p:txBody>
          <a:bodyPr wrap="square">
            <a:spAutoFit/>
          </a:bodyPr>
          <a:lstStyle/>
          <a:p>
            <a:pPr algn="l"/>
            <a:r>
              <a:rPr sz="1200" b="1" i="0">
                <a:solidFill>
                  <a:srgbClr val="E2E8F0"/>
                </a:solidFill>
                <a:latin typeface="Calibri"/>
              </a:rPr>
              <a:t>Real-Time Coding - Before the Claim Is Submitted</a:t>
            </a:r>
          </a:p>
        </p:txBody>
      </p:sp>
      <p:sp>
        <p:nvSpPr>
          <p:cNvPr id="24" name="TextBox 23"/>
          <p:cNvSpPr txBox="1"/>
          <p:nvPr/>
        </p:nvSpPr>
        <p:spPr>
          <a:xfrm>
            <a:off x="594360" y="4471416"/>
            <a:ext cx="8229600" cy="461665"/>
          </a:xfrm>
          <a:prstGeom prst="rect">
            <a:avLst/>
          </a:prstGeom>
          <a:noFill/>
        </p:spPr>
        <p:txBody>
          <a:bodyPr wrap="square">
            <a:spAutoFit/>
          </a:bodyPr>
          <a:lstStyle/>
          <a:p>
            <a:pPr algn="l"/>
            <a:r>
              <a:rPr sz="1200" b="0" i="0">
                <a:solidFill>
                  <a:srgbClr val="94A3B8"/>
                </a:solidFill>
                <a:latin typeface="Calibri"/>
              </a:rPr>
              <a:t>Instead of catching errors after the fact, NLP embedded in a doctor's EHR system can suggest the right codes while the physician is still documenting. Prevention beats correction.</a:t>
            </a:r>
          </a:p>
        </p:txBody>
      </p:sp>
      <p:sp>
        <p:nvSpPr>
          <p:cNvPr id="25" name="TextBox 24"/>
          <p:cNvSpPr txBox="1"/>
          <p:nvPr/>
        </p:nvSpPr>
        <p:spPr>
          <a:xfrm>
            <a:off x="8961120" y="4416552"/>
            <a:ext cx="2743200" cy="276999"/>
          </a:xfrm>
          <a:prstGeom prst="rect">
            <a:avLst/>
          </a:prstGeom>
          <a:noFill/>
        </p:spPr>
        <p:txBody>
          <a:bodyPr wrap="square">
            <a:spAutoFit/>
          </a:bodyPr>
          <a:lstStyle/>
          <a:p>
            <a:pPr algn="r"/>
            <a:r>
              <a:rPr sz="1200" b="1" i="0">
                <a:solidFill>
                  <a:srgbClr val="3B82F6"/>
                </a:solidFill>
                <a:latin typeface="Calibri"/>
              </a:rPr>
              <a:t>Expands Cotiviti into provider market</a:t>
            </a:r>
          </a:p>
        </p:txBody>
      </p:sp>
      <p:sp>
        <p:nvSpPr>
          <p:cNvPr id="26" name="Rectangle 25"/>
          <p:cNvSpPr/>
          <p:nvPr/>
        </p:nvSpPr>
        <p:spPr>
          <a:xfrm>
            <a:off x="365760" y="5102352"/>
            <a:ext cx="73152" cy="77724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7" name="Rectangle 26"/>
          <p:cNvSpPr/>
          <p:nvPr/>
        </p:nvSpPr>
        <p:spPr>
          <a:xfrm>
            <a:off x="457200" y="5102352"/>
            <a:ext cx="11247120" cy="777240"/>
          </a:xfrm>
          <a:prstGeom prst="rect">
            <a:avLst/>
          </a:prstGeom>
          <a:solidFill>
            <a:srgbClr val="0D182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8" name="TextBox 27"/>
          <p:cNvSpPr txBox="1"/>
          <p:nvPr/>
        </p:nvSpPr>
        <p:spPr>
          <a:xfrm>
            <a:off x="594360" y="5138928"/>
            <a:ext cx="6858000" cy="276999"/>
          </a:xfrm>
          <a:prstGeom prst="rect">
            <a:avLst/>
          </a:prstGeom>
          <a:noFill/>
        </p:spPr>
        <p:txBody>
          <a:bodyPr wrap="square">
            <a:spAutoFit/>
          </a:bodyPr>
          <a:lstStyle/>
          <a:p>
            <a:pPr algn="l"/>
            <a:r>
              <a:rPr sz="1200" b="1" i="0">
                <a:solidFill>
                  <a:srgbClr val="E2E8F0"/>
                </a:solidFill>
                <a:latin typeface="Calibri"/>
              </a:rPr>
              <a:t>Scale Without Proportional Cost</a:t>
            </a:r>
          </a:p>
        </p:txBody>
      </p:sp>
      <p:sp>
        <p:nvSpPr>
          <p:cNvPr id="29" name="TextBox 28"/>
          <p:cNvSpPr txBox="1"/>
          <p:nvPr/>
        </p:nvSpPr>
        <p:spPr>
          <a:xfrm>
            <a:off x="594360" y="5404104"/>
            <a:ext cx="8229600" cy="461665"/>
          </a:xfrm>
          <a:prstGeom prst="rect">
            <a:avLst/>
          </a:prstGeom>
          <a:noFill/>
        </p:spPr>
        <p:txBody>
          <a:bodyPr wrap="square">
            <a:spAutoFit/>
          </a:bodyPr>
          <a:lstStyle/>
          <a:p>
            <a:pPr algn="l"/>
            <a:r>
              <a:rPr sz="1200" b="0" i="0">
                <a:solidFill>
                  <a:srgbClr val="94A3B8"/>
                </a:solidFill>
                <a:latin typeface="Calibri"/>
              </a:rPr>
              <a:t>Human teams grow linearly - 2x the charts means 2x the headcount. AI scales horizontally - 10x the volume with the same compute cost. For payers processing millions of claims, this math changes everything.</a:t>
            </a:r>
          </a:p>
        </p:txBody>
      </p:sp>
      <p:sp>
        <p:nvSpPr>
          <p:cNvPr id="30" name="TextBox 29"/>
          <p:cNvSpPr txBox="1"/>
          <p:nvPr/>
        </p:nvSpPr>
        <p:spPr>
          <a:xfrm>
            <a:off x="8961120" y="5349240"/>
            <a:ext cx="2743200" cy="276999"/>
          </a:xfrm>
          <a:prstGeom prst="rect">
            <a:avLst/>
          </a:prstGeom>
          <a:noFill/>
        </p:spPr>
        <p:txBody>
          <a:bodyPr wrap="square">
            <a:spAutoFit/>
          </a:bodyPr>
          <a:lstStyle/>
          <a:p>
            <a:pPr algn="r"/>
            <a:r>
              <a:rPr sz="1200" b="1" i="0">
                <a:solidFill>
                  <a:srgbClr val="EF4444"/>
                </a:solidFill>
                <a:latin typeface="Calibri"/>
              </a:rPr>
              <a:t>Cost per chart drops as volume grows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3" name="TextBox 2"/>
          <p:cNvSpPr txBox="1"/>
          <p:nvPr/>
        </p:nvSpPr>
        <p:spPr>
          <a:xfrm>
            <a:off x="365760" y="182880"/>
            <a:ext cx="10972800" cy="307777"/>
          </a:xfrm>
          <a:prstGeom prst="rect">
            <a:avLst/>
          </a:prstGeom>
          <a:noFill/>
        </p:spPr>
        <p:txBody>
          <a:bodyPr wrap="square">
            <a:spAutoFit/>
          </a:bodyPr>
          <a:lstStyle/>
          <a:p>
            <a:pPr algn="l"/>
            <a:r>
              <a:rPr sz="1400" b="1" i="0" dirty="0">
                <a:solidFill>
                  <a:srgbClr val="EF4444"/>
                </a:solidFill>
                <a:latin typeface="Calibri"/>
              </a:rPr>
              <a:t>RISK </a:t>
            </a:r>
            <a:r>
              <a:rPr sz="1200" b="1" i="0" dirty="0">
                <a:solidFill>
                  <a:srgbClr val="EF4444"/>
                </a:solidFill>
                <a:latin typeface="Calibri"/>
              </a:rPr>
              <a:t>ANALYSIS</a:t>
            </a:r>
          </a:p>
        </p:txBody>
      </p:sp>
      <p:sp>
        <p:nvSpPr>
          <p:cNvPr id="4" name="TextBox 3"/>
          <p:cNvSpPr txBox="1"/>
          <p:nvPr/>
        </p:nvSpPr>
        <p:spPr>
          <a:xfrm>
            <a:off x="365760" y="548640"/>
            <a:ext cx="10972800" cy="523220"/>
          </a:xfrm>
          <a:prstGeom prst="rect">
            <a:avLst/>
          </a:prstGeom>
          <a:noFill/>
        </p:spPr>
        <p:txBody>
          <a:bodyPr wrap="square">
            <a:spAutoFit/>
          </a:bodyPr>
          <a:lstStyle/>
          <a:p>
            <a:pPr algn="l"/>
            <a:r>
              <a:rPr sz="2800" b="1" i="0" dirty="0">
                <a:solidFill>
                  <a:srgbClr val="E2E8F0"/>
                </a:solidFill>
                <a:latin typeface="Calibri"/>
              </a:rPr>
              <a:t>Threats &amp; Risks to Navigate</a:t>
            </a:r>
          </a:p>
        </p:txBody>
      </p:sp>
      <p:sp>
        <p:nvSpPr>
          <p:cNvPr id="5" name="Rectangle 4"/>
          <p:cNvSpPr/>
          <p:nvPr/>
        </p:nvSpPr>
        <p:spPr>
          <a:xfrm>
            <a:off x="365760" y="1188720"/>
            <a:ext cx="10972800" cy="36576"/>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6" name="Rectangle 5"/>
          <p:cNvSpPr/>
          <p:nvPr/>
        </p:nvSpPr>
        <p:spPr>
          <a:xfrm>
            <a:off x="365760" y="1371600"/>
            <a:ext cx="1005840" cy="777240"/>
          </a:xfrm>
          <a:prstGeom prst="rect">
            <a:avLst/>
          </a:prstGeom>
          <a:solidFill>
            <a:srgbClr val="1A0505"/>
          </a:solidFill>
          <a:ln w="1270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7" name="TextBox 6"/>
          <p:cNvSpPr txBox="1"/>
          <p:nvPr/>
        </p:nvSpPr>
        <p:spPr>
          <a:xfrm>
            <a:off x="365760" y="1572768"/>
            <a:ext cx="1005840" cy="307777"/>
          </a:xfrm>
          <a:prstGeom prst="rect">
            <a:avLst/>
          </a:prstGeom>
          <a:noFill/>
        </p:spPr>
        <p:txBody>
          <a:bodyPr wrap="square">
            <a:spAutoFit/>
          </a:bodyPr>
          <a:lstStyle/>
          <a:p>
            <a:pPr algn="ctr"/>
            <a:r>
              <a:rPr sz="1400" b="1" i="0">
                <a:solidFill>
                  <a:srgbClr val="EF4444"/>
                </a:solidFill>
                <a:latin typeface="Calibri"/>
              </a:rPr>
              <a:t>CRITICAL</a:t>
            </a:r>
          </a:p>
        </p:txBody>
      </p:sp>
      <p:sp>
        <p:nvSpPr>
          <p:cNvPr id="8" name="TextBox 7"/>
          <p:cNvSpPr txBox="1"/>
          <p:nvPr/>
        </p:nvSpPr>
        <p:spPr>
          <a:xfrm>
            <a:off x="1508760" y="1408176"/>
            <a:ext cx="4114800" cy="307777"/>
          </a:xfrm>
          <a:prstGeom prst="rect">
            <a:avLst/>
          </a:prstGeom>
          <a:noFill/>
        </p:spPr>
        <p:txBody>
          <a:bodyPr wrap="square">
            <a:spAutoFit/>
          </a:bodyPr>
          <a:lstStyle/>
          <a:p>
            <a:pPr algn="l"/>
            <a:r>
              <a:rPr sz="1400" b="1" i="0">
                <a:solidFill>
                  <a:srgbClr val="E2E8F0"/>
                </a:solidFill>
                <a:latin typeface="Calibri"/>
              </a:rPr>
              <a:t>AI Hallucination</a:t>
            </a:r>
          </a:p>
        </p:txBody>
      </p:sp>
      <p:sp>
        <p:nvSpPr>
          <p:cNvPr id="9" name="TextBox 8"/>
          <p:cNvSpPr txBox="1"/>
          <p:nvPr/>
        </p:nvSpPr>
        <p:spPr>
          <a:xfrm>
            <a:off x="1508760" y="1682496"/>
            <a:ext cx="10149840" cy="523220"/>
          </a:xfrm>
          <a:prstGeom prst="rect">
            <a:avLst/>
          </a:prstGeom>
          <a:noFill/>
        </p:spPr>
        <p:txBody>
          <a:bodyPr wrap="square">
            <a:spAutoFit/>
          </a:bodyPr>
          <a:lstStyle/>
          <a:p>
            <a:pPr algn="l"/>
            <a:r>
              <a:rPr sz="1400" b="0" i="0" dirty="0">
                <a:solidFill>
                  <a:srgbClr val="94A3B8"/>
                </a:solidFill>
                <a:latin typeface="Calibri"/>
              </a:rPr>
              <a:t>The AI can sound confident while being wrong. In healthcare, a wrong code on a claim is a compliance issue - not just an inconvenience. Human review of every AI output is non-negotiable.</a:t>
            </a:r>
          </a:p>
        </p:txBody>
      </p:sp>
      <p:sp>
        <p:nvSpPr>
          <p:cNvPr id="10" name="Rectangle 9"/>
          <p:cNvSpPr/>
          <p:nvPr/>
        </p:nvSpPr>
        <p:spPr>
          <a:xfrm>
            <a:off x="365760" y="2304288"/>
            <a:ext cx="1005840" cy="777240"/>
          </a:xfrm>
          <a:prstGeom prst="rect">
            <a:avLst/>
          </a:prstGeom>
          <a:solidFill>
            <a:srgbClr val="1A050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1" name="TextBox 10"/>
          <p:cNvSpPr txBox="1"/>
          <p:nvPr/>
        </p:nvSpPr>
        <p:spPr>
          <a:xfrm>
            <a:off x="365760" y="2505456"/>
            <a:ext cx="1005840" cy="307777"/>
          </a:xfrm>
          <a:prstGeom prst="rect">
            <a:avLst/>
          </a:prstGeom>
          <a:noFill/>
        </p:spPr>
        <p:txBody>
          <a:bodyPr wrap="square">
            <a:spAutoFit/>
          </a:bodyPr>
          <a:lstStyle/>
          <a:p>
            <a:pPr algn="ctr"/>
            <a:r>
              <a:rPr sz="1400" b="1" i="0">
                <a:solidFill>
                  <a:srgbClr val="F59E0B"/>
                </a:solidFill>
                <a:latin typeface="Calibri"/>
              </a:rPr>
              <a:t>HIGH</a:t>
            </a:r>
          </a:p>
        </p:txBody>
      </p:sp>
      <p:sp>
        <p:nvSpPr>
          <p:cNvPr id="12" name="TextBox 11"/>
          <p:cNvSpPr txBox="1"/>
          <p:nvPr/>
        </p:nvSpPr>
        <p:spPr>
          <a:xfrm>
            <a:off x="1508760" y="2340864"/>
            <a:ext cx="4114800" cy="307777"/>
          </a:xfrm>
          <a:prstGeom prst="rect">
            <a:avLst/>
          </a:prstGeom>
          <a:noFill/>
        </p:spPr>
        <p:txBody>
          <a:bodyPr wrap="square">
            <a:spAutoFit/>
          </a:bodyPr>
          <a:lstStyle/>
          <a:p>
            <a:pPr algn="l"/>
            <a:r>
              <a:rPr sz="1400" b="1" i="0">
                <a:solidFill>
                  <a:srgbClr val="E2E8F0"/>
                </a:solidFill>
                <a:latin typeface="Calibri"/>
              </a:rPr>
              <a:t>HIPAA &amp; Patient Privacy</a:t>
            </a:r>
          </a:p>
        </p:txBody>
      </p:sp>
      <p:sp>
        <p:nvSpPr>
          <p:cNvPr id="13" name="TextBox 12"/>
          <p:cNvSpPr txBox="1"/>
          <p:nvPr/>
        </p:nvSpPr>
        <p:spPr>
          <a:xfrm>
            <a:off x="1508760" y="2615184"/>
            <a:ext cx="10149840" cy="523220"/>
          </a:xfrm>
          <a:prstGeom prst="rect">
            <a:avLst/>
          </a:prstGeom>
          <a:noFill/>
        </p:spPr>
        <p:txBody>
          <a:bodyPr wrap="square">
            <a:spAutoFit/>
          </a:bodyPr>
          <a:lstStyle/>
          <a:p>
            <a:pPr algn="l"/>
            <a:r>
              <a:rPr sz="1400" b="0" i="0">
                <a:solidFill>
                  <a:srgbClr val="94A3B8"/>
                </a:solidFill>
                <a:latin typeface="Calibri"/>
              </a:rPr>
              <a:t>Sending real patient records to a cloud AI service requires a special legal agreement (called a BAA). Without it, sending PHI - Protected Health Information - is a HIPAA violation. The solution: private cloud deployment.</a:t>
            </a:r>
          </a:p>
        </p:txBody>
      </p:sp>
      <p:sp>
        <p:nvSpPr>
          <p:cNvPr id="14" name="Rectangle 13"/>
          <p:cNvSpPr/>
          <p:nvPr/>
        </p:nvSpPr>
        <p:spPr>
          <a:xfrm>
            <a:off x="365760" y="3236976"/>
            <a:ext cx="1005840" cy="777240"/>
          </a:xfrm>
          <a:prstGeom prst="rect">
            <a:avLst/>
          </a:prstGeom>
          <a:solidFill>
            <a:srgbClr val="1A0505"/>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5" name="TextBox 14"/>
          <p:cNvSpPr txBox="1"/>
          <p:nvPr/>
        </p:nvSpPr>
        <p:spPr>
          <a:xfrm>
            <a:off x="365760" y="3438144"/>
            <a:ext cx="1005840" cy="307777"/>
          </a:xfrm>
          <a:prstGeom prst="rect">
            <a:avLst/>
          </a:prstGeom>
          <a:noFill/>
        </p:spPr>
        <p:txBody>
          <a:bodyPr wrap="square">
            <a:spAutoFit/>
          </a:bodyPr>
          <a:lstStyle/>
          <a:p>
            <a:pPr algn="ctr"/>
            <a:r>
              <a:rPr sz="1400" b="1" i="0">
                <a:solidFill>
                  <a:srgbClr val="F59E0B"/>
                </a:solidFill>
                <a:latin typeface="Calibri"/>
              </a:rPr>
              <a:t>HIGH</a:t>
            </a:r>
          </a:p>
        </p:txBody>
      </p:sp>
      <p:sp>
        <p:nvSpPr>
          <p:cNvPr id="16" name="TextBox 15"/>
          <p:cNvSpPr txBox="1"/>
          <p:nvPr/>
        </p:nvSpPr>
        <p:spPr>
          <a:xfrm>
            <a:off x="1508760" y="3273552"/>
            <a:ext cx="4114800" cy="307777"/>
          </a:xfrm>
          <a:prstGeom prst="rect">
            <a:avLst/>
          </a:prstGeom>
          <a:noFill/>
        </p:spPr>
        <p:txBody>
          <a:bodyPr wrap="square">
            <a:spAutoFit/>
          </a:bodyPr>
          <a:lstStyle/>
          <a:p>
            <a:pPr algn="l"/>
            <a:r>
              <a:rPr sz="1400" b="1" i="0">
                <a:solidFill>
                  <a:srgbClr val="E2E8F0"/>
                </a:solidFill>
                <a:latin typeface="Calibri"/>
              </a:rPr>
              <a:t>Regulatory Uncertainty</a:t>
            </a:r>
          </a:p>
        </p:txBody>
      </p:sp>
      <p:sp>
        <p:nvSpPr>
          <p:cNvPr id="17" name="TextBox 16"/>
          <p:cNvSpPr txBox="1"/>
          <p:nvPr/>
        </p:nvSpPr>
        <p:spPr>
          <a:xfrm>
            <a:off x="1508760" y="3547872"/>
            <a:ext cx="10149840" cy="523220"/>
          </a:xfrm>
          <a:prstGeom prst="rect">
            <a:avLst/>
          </a:prstGeom>
          <a:noFill/>
        </p:spPr>
        <p:txBody>
          <a:bodyPr wrap="square">
            <a:spAutoFit/>
          </a:bodyPr>
          <a:lstStyle/>
          <a:p>
            <a:pPr algn="l"/>
            <a:r>
              <a:rPr sz="1400" b="0" i="0" dirty="0">
                <a:solidFill>
                  <a:srgbClr val="94A3B8"/>
                </a:solidFill>
                <a:latin typeface="Calibri"/>
              </a:rPr>
              <a:t>The FDA is still writing the rules for AI in healthcare. CMS (Medicare/Medicaid) guidance on AI in medical coding is evolving. Moving too fast could mean rebuilding a product when the rules land.</a:t>
            </a:r>
          </a:p>
        </p:txBody>
      </p:sp>
      <p:sp>
        <p:nvSpPr>
          <p:cNvPr id="18" name="Rectangle 17"/>
          <p:cNvSpPr/>
          <p:nvPr/>
        </p:nvSpPr>
        <p:spPr>
          <a:xfrm>
            <a:off x="365760" y="4169664"/>
            <a:ext cx="1005840" cy="777240"/>
          </a:xfrm>
          <a:prstGeom prst="rect">
            <a:avLst/>
          </a:prstGeom>
          <a:solidFill>
            <a:srgbClr val="1A050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19" name="TextBox 18"/>
          <p:cNvSpPr txBox="1"/>
          <p:nvPr/>
        </p:nvSpPr>
        <p:spPr>
          <a:xfrm>
            <a:off x="365760" y="4370832"/>
            <a:ext cx="1005840" cy="307777"/>
          </a:xfrm>
          <a:prstGeom prst="rect">
            <a:avLst/>
          </a:prstGeom>
          <a:noFill/>
        </p:spPr>
        <p:txBody>
          <a:bodyPr wrap="square">
            <a:spAutoFit/>
          </a:bodyPr>
          <a:lstStyle/>
          <a:p>
            <a:pPr algn="ctr"/>
            <a:r>
              <a:rPr sz="1400" b="1" i="0">
                <a:solidFill>
                  <a:srgbClr val="475569"/>
                </a:solidFill>
                <a:latin typeface="Calibri"/>
              </a:rPr>
              <a:t>MEDIUM</a:t>
            </a:r>
          </a:p>
        </p:txBody>
      </p:sp>
      <p:sp>
        <p:nvSpPr>
          <p:cNvPr id="20" name="TextBox 19"/>
          <p:cNvSpPr txBox="1"/>
          <p:nvPr/>
        </p:nvSpPr>
        <p:spPr>
          <a:xfrm>
            <a:off x="1508760" y="4206240"/>
            <a:ext cx="4114800" cy="307777"/>
          </a:xfrm>
          <a:prstGeom prst="rect">
            <a:avLst/>
          </a:prstGeom>
          <a:noFill/>
        </p:spPr>
        <p:txBody>
          <a:bodyPr wrap="square">
            <a:spAutoFit/>
          </a:bodyPr>
          <a:lstStyle/>
          <a:p>
            <a:pPr algn="l"/>
            <a:r>
              <a:rPr sz="1400" b="1" i="0">
                <a:solidFill>
                  <a:srgbClr val="E2E8F0"/>
                </a:solidFill>
                <a:latin typeface="Calibri"/>
              </a:rPr>
              <a:t>EHR Integration Complexity</a:t>
            </a:r>
          </a:p>
        </p:txBody>
      </p:sp>
      <p:sp>
        <p:nvSpPr>
          <p:cNvPr id="21" name="TextBox 20"/>
          <p:cNvSpPr txBox="1"/>
          <p:nvPr/>
        </p:nvSpPr>
        <p:spPr>
          <a:xfrm>
            <a:off x="1508760" y="4480560"/>
            <a:ext cx="10149840" cy="523220"/>
          </a:xfrm>
          <a:prstGeom prst="rect">
            <a:avLst/>
          </a:prstGeom>
          <a:noFill/>
        </p:spPr>
        <p:txBody>
          <a:bodyPr wrap="square">
            <a:spAutoFit/>
          </a:bodyPr>
          <a:lstStyle/>
          <a:p>
            <a:pPr algn="l"/>
            <a:r>
              <a:rPr sz="1400" b="0" i="0">
                <a:solidFill>
                  <a:srgbClr val="94A3B8"/>
                </a:solidFill>
                <a:latin typeface="Calibri"/>
              </a:rPr>
              <a:t>Epic and Cerner run most U.S. hospitals. Connecting external tools to their systems takes months of engineering even with new federal interoperability standards. Budget time and resources for this.</a:t>
            </a:r>
          </a:p>
        </p:txBody>
      </p:sp>
      <p:sp>
        <p:nvSpPr>
          <p:cNvPr id="22" name="Rectangle 21"/>
          <p:cNvSpPr/>
          <p:nvPr/>
        </p:nvSpPr>
        <p:spPr>
          <a:xfrm>
            <a:off x="365760" y="5102352"/>
            <a:ext cx="1005840" cy="777240"/>
          </a:xfrm>
          <a:prstGeom prst="rect">
            <a:avLst/>
          </a:prstGeom>
          <a:solidFill>
            <a:srgbClr val="1A0505"/>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400"/>
          </a:p>
        </p:txBody>
      </p:sp>
      <p:sp>
        <p:nvSpPr>
          <p:cNvPr id="23" name="TextBox 22"/>
          <p:cNvSpPr txBox="1"/>
          <p:nvPr/>
        </p:nvSpPr>
        <p:spPr>
          <a:xfrm>
            <a:off x="365760" y="5303520"/>
            <a:ext cx="1005840" cy="307777"/>
          </a:xfrm>
          <a:prstGeom prst="rect">
            <a:avLst/>
          </a:prstGeom>
          <a:noFill/>
        </p:spPr>
        <p:txBody>
          <a:bodyPr wrap="square">
            <a:spAutoFit/>
          </a:bodyPr>
          <a:lstStyle/>
          <a:p>
            <a:pPr algn="ctr"/>
            <a:r>
              <a:rPr sz="1400" b="1" i="0">
                <a:solidFill>
                  <a:srgbClr val="475569"/>
                </a:solidFill>
                <a:latin typeface="Calibri"/>
              </a:rPr>
              <a:t>MEDIUM</a:t>
            </a:r>
          </a:p>
        </p:txBody>
      </p:sp>
      <p:sp>
        <p:nvSpPr>
          <p:cNvPr id="24" name="TextBox 23"/>
          <p:cNvSpPr txBox="1"/>
          <p:nvPr/>
        </p:nvSpPr>
        <p:spPr>
          <a:xfrm>
            <a:off x="1508760" y="5138928"/>
            <a:ext cx="4114800" cy="307777"/>
          </a:xfrm>
          <a:prstGeom prst="rect">
            <a:avLst/>
          </a:prstGeom>
          <a:noFill/>
        </p:spPr>
        <p:txBody>
          <a:bodyPr wrap="square">
            <a:spAutoFit/>
          </a:bodyPr>
          <a:lstStyle/>
          <a:p>
            <a:pPr algn="l"/>
            <a:r>
              <a:rPr sz="1400" b="1" i="0">
                <a:solidFill>
                  <a:srgbClr val="E2E8F0"/>
                </a:solidFill>
                <a:latin typeface="Calibri"/>
              </a:rPr>
              <a:t>Model Bias</a:t>
            </a:r>
          </a:p>
        </p:txBody>
      </p:sp>
      <p:sp>
        <p:nvSpPr>
          <p:cNvPr id="25" name="TextBox 24"/>
          <p:cNvSpPr txBox="1"/>
          <p:nvPr/>
        </p:nvSpPr>
        <p:spPr>
          <a:xfrm>
            <a:off x="1508760" y="5413248"/>
            <a:ext cx="10149840" cy="523220"/>
          </a:xfrm>
          <a:prstGeom prst="rect">
            <a:avLst/>
          </a:prstGeom>
          <a:noFill/>
        </p:spPr>
        <p:txBody>
          <a:bodyPr wrap="square">
            <a:spAutoFit/>
          </a:bodyPr>
          <a:lstStyle/>
          <a:p>
            <a:pPr algn="l"/>
            <a:r>
              <a:rPr sz="1400" b="0" i="0">
                <a:solidFill>
                  <a:srgbClr val="94A3B8"/>
                </a:solidFill>
                <a:latin typeface="Calibri"/>
              </a:rPr>
              <a:t>If an AI was trained mostly on notes from large academic hospitals, it may perform worse on notes from community or rural clinics. That could disadvantage certain patient populations.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3" name="TextBox 2"/>
          <p:cNvSpPr txBox="1"/>
          <p:nvPr/>
        </p:nvSpPr>
        <p:spPr>
          <a:xfrm>
            <a:off x="365760" y="182880"/>
            <a:ext cx="10972800" cy="276999"/>
          </a:xfrm>
          <a:prstGeom prst="rect">
            <a:avLst/>
          </a:prstGeom>
          <a:noFill/>
        </p:spPr>
        <p:txBody>
          <a:bodyPr wrap="square">
            <a:spAutoFit/>
          </a:bodyPr>
          <a:lstStyle/>
          <a:p>
            <a:pPr algn="l"/>
            <a:r>
              <a:rPr sz="1200" b="1" i="0" dirty="0">
                <a:solidFill>
                  <a:srgbClr val="10B981"/>
                </a:solidFill>
                <a:latin typeface="Calibri"/>
              </a:rPr>
              <a:t>STRATEGIC INVESTMENT</a:t>
            </a:r>
          </a:p>
        </p:txBody>
      </p:sp>
      <p:sp>
        <p:nvSpPr>
          <p:cNvPr id="4" name="TextBox 3"/>
          <p:cNvSpPr txBox="1"/>
          <p:nvPr/>
        </p:nvSpPr>
        <p:spPr>
          <a:xfrm>
            <a:off x="365760" y="548640"/>
            <a:ext cx="10972800" cy="523220"/>
          </a:xfrm>
          <a:prstGeom prst="rect">
            <a:avLst/>
          </a:prstGeom>
          <a:noFill/>
        </p:spPr>
        <p:txBody>
          <a:bodyPr wrap="square">
            <a:spAutoFit/>
          </a:bodyPr>
          <a:lstStyle/>
          <a:p>
            <a:pPr algn="l"/>
            <a:r>
              <a:rPr sz="2800" b="1" i="0" dirty="0">
                <a:solidFill>
                  <a:srgbClr val="E2E8F0"/>
                </a:solidFill>
                <a:latin typeface="Calibri"/>
              </a:rPr>
              <a:t>Recommendations for Cotiviti</a:t>
            </a:r>
          </a:p>
        </p:txBody>
      </p:sp>
      <p:sp>
        <p:nvSpPr>
          <p:cNvPr id="5" name="Rectangle 4"/>
          <p:cNvSpPr/>
          <p:nvPr/>
        </p:nvSpPr>
        <p:spPr>
          <a:xfrm>
            <a:off x="365760" y="1188720"/>
            <a:ext cx="1097280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 name="Rectangle 5"/>
          <p:cNvSpPr/>
          <p:nvPr/>
        </p:nvSpPr>
        <p:spPr>
          <a:xfrm>
            <a:off x="365760" y="1371600"/>
            <a:ext cx="11430000" cy="1508760"/>
          </a:xfrm>
          <a:prstGeom prst="rect">
            <a:avLst/>
          </a:prstGeom>
          <a:solidFill>
            <a:srgbClr val="0D18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 name="Rectangle 6"/>
          <p:cNvSpPr/>
          <p:nvPr/>
        </p:nvSpPr>
        <p:spPr>
          <a:xfrm>
            <a:off x="365760" y="1371600"/>
            <a:ext cx="731520" cy="150876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8" name="TextBox 7"/>
          <p:cNvSpPr txBox="1"/>
          <p:nvPr/>
        </p:nvSpPr>
        <p:spPr>
          <a:xfrm>
            <a:off x="365760" y="1874519"/>
            <a:ext cx="731520" cy="276999"/>
          </a:xfrm>
          <a:prstGeom prst="rect">
            <a:avLst/>
          </a:prstGeom>
          <a:noFill/>
        </p:spPr>
        <p:txBody>
          <a:bodyPr wrap="square">
            <a:spAutoFit/>
          </a:bodyPr>
          <a:lstStyle/>
          <a:p>
            <a:pPr algn="ctr"/>
            <a:r>
              <a:rPr sz="1200" b="1" i="0">
                <a:solidFill>
                  <a:srgbClr val="FFFFFF"/>
                </a:solidFill>
                <a:latin typeface="Calibri"/>
              </a:rPr>
              <a:t>01</a:t>
            </a:r>
          </a:p>
        </p:txBody>
      </p:sp>
      <p:sp>
        <p:nvSpPr>
          <p:cNvPr id="9" name="TextBox 8"/>
          <p:cNvSpPr txBox="1"/>
          <p:nvPr/>
        </p:nvSpPr>
        <p:spPr>
          <a:xfrm>
            <a:off x="1234440" y="1417320"/>
            <a:ext cx="8229600" cy="274320"/>
          </a:xfrm>
          <a:prstGeom prst="rect">
            <a:avLst/>
          </a:prstGeom>
          <a:noFill/>
        </p:spPr>
        <p:txBody>
          <a:bodyPr wrap="square">
            <a:spAutoFit/>
          </a:bodyPr>
          <a:lstStyle/>
          <a:p>
            <a:pPr algn="l"/>
            <a:r>
              <a:rPr sz="1200" b="1" i="0">
                <a:solidFill>
                  <a:srgbClr val="10B981"/>
                </a:solidFill>
                <a:latin typeface="Calibri"/>
              </a:rPr>
              <a:t>RECOMMENDED  -  Start Now</a:t>
            </a:r>
          </a:p>
        </p:txBody>
      </p:sp>
      <p:sp>
        <p:nvSpPr>
          <p:cNvPr id="10" name="TextBox 9"/>
          <p:cNvSpPr txBox="1"/>
          <p:nvPr/>
        </p:nvSpPr>
        <p:spPr>
          <a:xfrm>
            <a:off x="1234440" y="1645920"/>
            <a:ext cx="7772400" cy="276999"/>
          </a:xfrm>
          <a:prstGeom prst="rect">
            <a:avLst/>
          </a:prstGeom>
          <a:noFill/>
        </p:spPr>
        <p:txBody>
          <a:bodyPr wrap="square">
            <a:spAutoFit/>
          </a:bodyPr>
          <a:lstStyle/>
          <a:p>
            <a:pPr algn="l"/>
            <a:r>
              <a:rPr sz="1200" b="1" i="0">
                <a:solidFill>
                  <a:srgbClr val="E2E8F0"/>
                </a:solidFill>
                <a:latin typeface="Calibri"/>
              </a:rPr>
              <a:t>Hybrid Human-AI Chart Review Platform</a:t>
            </a:r>
          </a:p>
        </p:txBody>
      </p:sp>
      <p:sp>
        <p:nvSpPr>
          <p:cNvPr id="11" name="TextBox 10"/>
          <p:cNvSpPr txBox="1"/>
          <p:nvPr/>
        </p:nvSpPr>
        <p:spPr>
          <a:xfrm>
            <a:off x="1234440" y="2084832"/>
            <a:ext cx="8686800" cy="461665"/>
          </a:xfrm>
          <a:prstGeom prst="rect">
            <a:avLst/>
          </a:prstGeom>
          <a:noFill/>
        </p:spPr>
        <p:txBody>
          <a:bodyPr wrap="square">
            <a:spAutoFit/>
          </a:bodyPr>
          <a:lstStyle/>
          <a:p>
            <a:pPr algn="l"/>
            <a:r>
              <a:rPr sz="1200" b="0" i="0" dirty="0">
                <a:solidFill>
                  <a:srgbClr val="94A3B8"/>
                </a:solidFill>
                <a:latin typeface="Calibri"/>
              </a:rPr>
              <a:t>AI reads charts first - extracts diagnoses, maps ICD-10 codes, flags HCC gaps. A human reviewer then validates the AI's findings before anything affects a claim. Private cloud deployment keeps PHI safe. This is the 'AI proposes, human confirms' model.</a:t>
            </a:r>
          </a:p>
        </p:txBody>
      </p:sp>
      <p:sp>
        <p:nvSpPr>
          <p:cNvPr id="12" name="TextBox 11"/>
          <p:cNvSpPr txBox="1"/>
          <p:nvPr/>
        </p:nvSpPr>
        <p:spPr>
          <a:xfrm>
            <a:off x="9784080" y="1417320"/>
            <a:ext cx="1828800" cy="457200"/>
          </a:xfrm>
          <a:prstGeom prst="rect">
            <a:avLst/>
          </a:prstGeom>
          <a:noFill/>
        </p:spPr>
        <p:txBody>
          <a:bodyPr wrap="square">
            <a:spAutoFit/>
          </a:bodyPr>
          <a:lstStyle/>
          <a:p>
            <a:pPr algn="r"/>
            <a:r>
              <a:rPr sz="1200" b="0" i="0">
                <a:solidFill>
                  <a:srgbClr val="10B981"/>
                </a:solidFill>
                <a:latin typeface="Calibri"/>
              </a:rPr>
              <a:t>0-12 months  |  60-70% cycle time reduction</a:t>
            </a:r>
          </a:p>
        </p:txBody>
      </p:sp>
      <p:sp>
        <p:nvSpPr>
          <p:cNvPr id="13" name="Rectangle 12"/>
          <p:cNvSpPr/>
          <p:nvPr/>
        </p:nvSpPr>
        <p:spPr>
          <a:xfrm>
            <a:off x="365760" y="3063240"/>
            <a:ext cx="11430000" cy="1508760"/>
          </a:xfrm>
          <a:prstGeom prst="rect">
            <a:avLst/>
          </a:prstGeom>
          <a:solidFill>
            <a:srgbClr val="0D1829"/>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4" name="Rectangle 13"/>
          <p:cNvSpPr/>
          <p:nvPr/>
        </p:nvSpPr>
        <p:spPr>
          <a:xfrm>
            <a:off x="365760" y="3063240"/>
            <a:ext cx="731520" cy="150876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5" name="TextBox 14"/>
          <p:cNvSpPr txBox="1"/>
          <p:nvPr/>
        </p:nvSpPr>
        <p:spPr>
          <a:xfrm>
            <a:off x="365760" y="3566160"/>
            <a:ext cx="731520" cy="276999"/>
          </a:xfrm>
          <a:prstGeom prst="rect">
            <a:avLst/>
          </a:prstGeom>
          <a:noFill/>
        </p:spPr>
        <p:txBody>
          <a:bodyPr wrap="square">
            <a:spAutoFit/>
          </a:bodyPr>
          <a:lstStyle/>
          <a:p>
            <a:pPr algn="ctr"/>
            <a:r>
              <a:rPr sz="1200" b="1" i="0">
                <a:solidFill>
                  <a:srgbClr val="FFFFFF"/>
                </a:solidFill>
                <a:latin typeface="Calibri"/>
              </a:rPr>
              <a:t>02</a:t>
            </a:r>
          </a:p>
        </p:txBody>
      </p:sp>
      <p:sp>
        <p:nvSpPr>
          <p:cNvPr id="16" name="TextBox 15"/>
          <p:cNvSpPr txBox="1"/>
          <p:nvPr/>
        </p:nvSpPr>
        <p:spPr>
          <a:xfrm>
            <a:off x="1234440" y="3108960"/>
            <a:ext cx="8229600" cy="274320"/>
          </a:xfrm>
          <a:prstGeom prst="rect">
            <a:avLst/>
          </a:prstGeom>
          <a:noFill/>
        </p:spPr>
        <p:txBody>
          <a:bodyPr wrap="square">
            <a:spAutoFit/>
          </a:bodyPr>
          <a:lstStyle/>
          <a:p>
            <a:pPr algn="l"/>
            <a:r>
              <a:rPr sz="1200" b="1" i="0">
                <a:solidFill>
                  <a:srgbClr val="3B82F6"/>
                </a:solidFill>
                <a:latin typeface="Calibri"/>
              </a:rPr>
              <a:t>ADJACENT MARKET  -  6 to 18 Months</a:t>
            </a:r>
          </a:p>
        </p:txBody>
      </p:sp>
      <p:sp>
        <p:nvSpPr>
          <p:cNvPr id="17" name="TextBox 16"/>
          <p:cNvSpPr txBox="1"/>
          <p:nvPr/>
        </p:nvSpPr>
        <p:spPr>
          <a:xfrm>
            <a:off x="1234440" y="3337560"/>
            <a:ext cx="7772400" cy="276999"/>
          </a:xfrm>
          <a:prstGeom prst="rect">
            <a:avLst/>
          </a:prstGeom>
          <a:noFill/>
        </p:spPr>
        <p:txBody>
          <a:bodyPr wrap="square">
            <a:spAutoFit/>
          </a:bodyPr>
          <a:lstStyle/>
          <a:p>
            <a:pPr algn="l"/>
            <a:r>
              <a:rPr sz="1200" b="1" i="0">
                <a:solidFill>
                  <a:srgbClr val="E2E8F0"/>
                </a:solidFill>
                <a:latin typeface="Calibri"/>
              </a:rPr>
              <a:t>Real-Time Coding Assistant Inside Doctor's EHR</a:t>
            </a:r>
          </a:p>
        </p:txBody>
      </p:sp>
      <p:sp>
        <p:nvSpPr>
          <p:cNvPr id="18" name="TextBox 17"/>
          <p:cNvSpPr txBox="1"/>
          <p:nvPr/>
        </p:nvSpPr>
        <p:spPr>
          <a:xfrm>
            <a:off x="1234440" y="3776472"/>
            <a:ext cx="8686800" cy="646331"/>
          </a:xfrm>
          <a:prstGeom prst="rect">
            <a:avLst/>
          </a:prstGeom>
          <a:noFill/>
        </p:spPr>
        <p:txBody>
          <a:bodyPr wrap="square">
            <a:spAutoFit/>
          </a:bodyPr>
          <a:lstStyle/>
          <a:p>
            <a:pPr algn="l"/>
            <a:r>
              <a:rPr sz="1200" b="0" i="0">
                <a:solidFill>
                  <a:srgbClr val="94A3B8"/>
                </a:solidFill>
                <a:latin typeface="Calibri"/>
              </a:rPr>
              <a:t>Instead of auditing after a claim is submitted, this tool sits inside the doctor's EHR system and suggests the right codes while they're writing the note. Shifts Cotiviti from 'payer watchdog' to 'provider partner.' Uses FHIR R4 - the federal standard that makes EHR integration possible.</a:t>
            </a:r>
          </a:p>
        </p:txBody>
      </p:sp>
      <p:sp>
        <p:nvSpPr>
          <p:cNvPr id="19" name="TextBox 18"/>
          <p:cNvSpPr txBox="1"/>
          <p:nvPr/>
        </p:nvSpPr>
        <p:spPr>
          <a:xfrm>
            <a:off x="9784080" y="3108960"/>
            <a:ext cx="1828800" cy="457200"/>
          </a:xfrm>
          <a:prstGeom prst="rect">
            <a:avLst/>
          </a:prstGeom>
          <a:noFill/>
        </p:spPr>
        <p:txBody>
          <a:bodyPr wrap="square">
            <a:spAutoFit/>
          </a:bodyPr>
          <a:lstStyle/>
          <a:p>
            <a:pPr algn="r"/>
            <a:r>
              <a:rPr sz="1200" b="0" i="0">
                <a:solidFill>
                  <a:srgbClr val="3B82F6"/>
                </a:solidFill>
                <a:latin typeface="Calibri"/>
              </a:rPr>
              <a:t>6-18 months  |  Opens provider market</a:t>
            </a:r>
          </a:p>
        </p:txBody>
      </p:sp>
      <p:sp>
        <p:nvSpPr>
          <p:cNvPr id="20" name="Rectangle 19"/>
          <p:cNvSpPr/>
          <p:nvPr/>
        </p:nvSpPr>
        <p:spPr>
          <a:xfrm>
            <a:off x="365760" y="4754880"/>
            <a:ext cx="11430000" cy="1508760"/>
          </a:xfrm>
          <a:prstGeom prst="rect">
            <a:avLst/>
          </a:prstGeom>
          <a:solidFill>
            <a:srgbClr val="0D1829"/>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1" name="Rectangle 20"/>
          <p:cNvSpPr/>
          <p:nvPr/>
        </p:nvSpPr>
        <p:spPr>
          <a:xfrm>
            <a:off x="365760" y="4754880"/>
            <a:ext cx="731520" cy="15087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22" name="TextBox 21"/>
          <p:cNvSpPr txBox="1"/>
          <p:nvPr/>
        </p:nvSpPr>
        <p:spPr>
          <a:xfrm>
            <a:off x="365760" y="5257800"/>
            <a:ext cx="731520" cy="276999"/>
          </a:xfrm>
          <a:prstGeom prst="rect">
            <a:avLst/>
          </a:prstGeom>
          <a:noFill/>
        </p:spPr>
        <p:txBody>
          <a:bodyPr wrap="square">
            <a:spAutoFit/>
          </a:bodyPr>
          <a:lstStyle/>
          <a:p>
            <a:pPr algn="ctr"/>
            <a:r>
              <a:rPr sz="1200" b="1" i="0">
                <a:solidFill>
                  <a:srgbClr val="FFFFFF"/>
                </a:solidFill>
                <a:latin typeface="Calibri"/>
              </a:rPr>
              <a:t>03</a:t>
            </a:r>
          </a:p>
        </p:txBody>
      </p:sp>
      <p:sp>
        <p:nvSpPr>
          <p:cNvPr id="23" name="TextBox 22"/>
          <p:cNvSpPr txBox="1"/>
          <p:nvPr/>
        </p:nvSpPr>
        <p:spPr>
          <a:xfrm>
            <a:off x="1234440" y="4800600"/>
            <a:ext cx="8229600" cy="274320"/>
          </a:xfrm>
          <a:prstGeom prst="rect">
            <a:avLst/>
          </a:prstGeom>
          <a:noFill/>
        </p:spPr>
        <p:txBody>
          <a:bodyPr wrap="square">
            <a:spAutoFit/>
          </a:bodyPr>
          <a:lstStyle/>
          <a:p>
            <a:pPr algn="l"/>
            <a:r>
              <a:rPr sz="1200" b="1" i="0">
                <a:solidFill>
                  <a:srgbClr val="F59E0B"/>
                </a:solidFill>
                <a:latin typeface="Calibri"/>
              </a:rPr>
              <a:t>LONG HORIZON R&amp;D  -  18 to 36 Months</a:t>
            </a:r>
          </a:p>
        </p:txBody>
      </p:sp>
      <p:sp>
        <p:nvSpPr>
          <p:cNvPr id="24" name="TextBox 23"/>
          <p:cNvSpPr txBox="1"/>
          <p:nvPr/>
        </p:nvSpPr>
        <p:spPr>
          <a:xfrm>
            <a:off x="1234440" y="5029200"/>
            <a:ext cx="7772400" cy="276999"/>
          </a:xfrm>
          <a:prstGeom prst="rect">
            <a:avLst/>
          </a:prstGeom>
          <a:noFill/>
        </p:spPr>
        <p:txBody>
          <a:bodyPr wrap="square">
            <a:spAutoFit/>
          </a:bodyPr>
          <a:lstStyle/>
          <a:p>
            <a:pPr algn="l"/>
            <a:r>
              <a:rPr sz="1200" b="1" i="0">
                <a:solidFill>
                  <a:srgbClr val="E2E8F0"/>
                </a:solidFill>
                <a:latin typeface="Calibri"/>
              </a:rPr>
              <a:t>Multimodal AI: Read Text + Lab Results + Imaging Together</a:t>
            </a:r>
          </a:p>
        </p:txBody>
      </p:sp>
      <p:sp>
        <p:nvSpPr>
          <p:cNvPr id="25" name="TextBox 24"/>
          <p:cNvSpPr txBox="1"/>
          <p:nvPr/>
        </p:nvSpPr>
        <p:spPr>
          <a:xfrm>
            <a:off x="1234440" y="5468112"/>
            <a:ext cx="8686800" cy="461665"/>
          </a:xfrm>
          <a:prstGeom prst="rect">
            <a:avLst/>
          </a:prstGeom>
          <a:noFill/>
        </p:spPr>
        <p:txBody>
          <a:bodyPr wrap="square">
            <a:spAutoFit/>
          </a:bodyPr>
          <a:lstStyle/>
          <a:p>
            <a:pPr algn="l"/>
            <a:r>
              <a:rPr sz="1200" b="0" i="0">
                <a:solidFill>
                  <a:srgbClr val="94A3B8"/>
                </a:solidFill>
                <a:latin typeface="Calibri"/>
              </a:rPr>
              <a:t>Future models can read a clinical note, check the lab values, and look at the radiology report all at once - then make a coding decision based on all three. More evidence = more defensible decisions. Invest in R&amp;D now before text-only NLP becomes a commodity.</a:t>
            </a:r>
          </a:p>
        </p:txBody>
      </p:sp>
      <p:sp>
        <p:nvSpPr>
          <p:cNvPr id="26" name="TextBox 25"/>
          <p:cNvSpPr txBox="1"/>
          <p:nvPr/>
        </p:nvSpPr>
        <p:spPr>
          <a:xfrm>
            <a:off x="9784080" y="4800600"/>
            <a:ext cx="1828800" cy="646331"/>
          </a:xfrm>
          <a:prstGeom prst="rect">
            <a:avLst/>
          </a:prstGeom>
          <a:noFill/>
        </p:spPr>
        <p:txBody>
          <a:bodyPr wrap="square">
            <a:spAutoFit/>
          </a:bodyPr>
          <a:lstStyle/>
          <a:p>
            <a:pPr algn="r"/>
            <a:r>
              <a:rPr sz="1200" b="0" i="0">
                <a:solidFill>
                  <a:srgbClr val="F59E0B"/>
                </a:solidFill>
                <a:latin typeface="Calibri"/>
              </a:rPr>
              <a:t>18-36 months  |  Competitive differentiation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 name="TextBox 2"/>
          <p:cNvSpPr txBox="1"/>
          <p:nvPr/>
        </p:nvSpPr>
        <p:spPr>
          <a:xfrm>
            <a:off x="365760" y="182880"/>
            <a:ext cx="10972800" cy="276999"/>
          </a:xfrm>
          <a:prstGeom prst="rect">
            <a:avLst/>
          </a:prstGeom>
          <a:noFill/>
        </p:spPr>
        <p:txBody>
          <a:bodyPr wrap="square">
            <a:spAutoFit/>
          </a:bodyPr>
          <a:lstStyle/>
          <a:p>
            <a:pPr algn="l"/>
            <a:r>
              <a:rPr sz="1200" b="1" i="0" dirty="0">
                <a:solidFill>
                  <a:srgbClr val="06B6D4"/>
                </a:solidFill>
                <a:latin typeface="Calibri"/>
              </a:rPr>
              <a:t>PROOF OF CONCEPT</a:t>
            </a:r>
          </a:p>
        </p:txBody>
      </p:sp>
      <p:sp>
        <p:nvSpPr>
          <p:cNvPr id="4" name="TextBox 3"/>
          <p:cNvSpPr txBox="1"/>
          <p:nvPr/>
        </p:nvSpPr>
        <p:spPr>
          <a:xfrm>
            <a:off x="365760" y="548640"/>
            <a:ext cx="10972800" cy="523220"/>
          </a:xfrm>
          <a:prstGeom prst="rect">
            <a:avLst/>
          </a:prstGeom>
          <a:noFill/>
        </p:spPr>
        <p:txBody>
          <a:bodyPr wrap="square">
            <a:spAutoFit/>
          </a:bodyPr>
          <a:lstStyle/>
          <a:p>
            <a:pPr algn="l"/>
            <a:r>
              <a:rPr sz="2800" b="1" i="0" dirty="0" err="1">
                <a:solidFill>
                  <a:srgbClr val="E2E8F0"/>
                </a:solidFill>
                <a:latin typeface="Calibri"/>
              </a:rPr>
              <a:t>ClinicalIQ</a:t>
            </a:r>
            <a:r>
              <a:rPr sz="2800" b="1" i="0" dirty="0">
                <a:solidFill>
                  <a:srgbClr val="E2E8F0"/>
                </a:solidFill>
                <a:latin typeface="Calibri"/>
              </a:rPr>
              <a:t> - Chart Intelligence Platform</a:t>
            </a:r>
          </a:p>
        </p:txBody>
      </p:sp>
      <p:sp>
        <p:nvSpPr>
          <p:cNvPr id="5" name="Rectangle 4"/>
          <p:cNvSpPr/>
          <p:nvPr/>
        </p:nvSpPr>
        <p:spPr>
          <a:xfrm>
            <a:off x="365760" y="1188720"/>
            <a:ext cx="10972800" cy="36576"/>
          </a:xfrm>
          <a:prstGeom prst="rect">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6" name="TextBox 5"/>
          <p:cNvSpPr txBox="1"/>
          <p:nvPr/>
        </p:nvSpPr>
        <p:spPr>
          <a:xfrm>
            <a:off x="365760" y="1325880"/>
            <a:ext cx="10972800" cy="292388"/>
          </a:xfrm>
          <a:prstGeom prst="rect">
            <a:avLst/>
          </a:prstGeom>
          <a:noFill/>
        </p:spPr>
        <p:txBody>
          <a:bodyPr wrap="square">
            <a:spAutoFit/>
          </a:bodyPr>
          <a:lstStyle/>
          <a:p>
            <a:pPr algn="l"/>
            <a:r>
              <a:rPr sz="1300" b="1" i="0">
                <a:solidFill>
                  <a:srgbClr val="94A3B8"/>
                </a:solidFill>
                <a:latin typeface="Calibri"/>
              </a:rPr>
              <a:t>How It Works</a:t>
            </a:r>
          </a:p>
        </p:txBody>
      </p:sp>
      <p:sp>
        <p:nvSpPr>
          <p:cNvPr id="7" name="Rectangle 6"/>
          <p:cNvSpPr/>
          <p:nvPr/>
        </p:nvSpPr>
        <p:spPr>
          <a:xfrm>
            <a:off x="365760" y="1737360"/>
            <a:ext cx="2011680" cy="1097280"/>
          </a:xfrm>
          <a:prstGeom prst="rect">
            <a:avLst/>
          </a:prstGeom>
          <a:solidFill>
            <a:srgbClr val="0D1829"/>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8" name="TextBox 7"/>
          <p:cNvSpPr txBox="1"/>
          <p:nvPr/>
        </p:nvSpPr>
        <p:spPr>
          <a:xfrm>
            <a:off x="365760" y="1737360"/>
            <a:ext cx="2011680" cy="692497"/>
          </a:xfrm>
          <a:prstGeom prst="rect">
            <a:avLst/>
          </a:prstGeom>
          <a:noFill/>
        </p:spPr>
        <p:txBody>
          <a:bodyPr wrap="square">
            <a:spAutoFit/>
          </a:bodyPr>
          <a:lstStyle/>
          <a:p>
            <a:pPr algn="ctr"/>
            <a:r>
              <a:rPr sz="1300" b="1" i="0">
                <a:solidFill>
                  <a:srgbClr val="3B82F6"/>
                </a:solidFill>
                <a:latin typeface="Calibri"/>
              </a:rPr>
              <a:t>📄
PDF / TXT
Upload</a:t>
            </a:r>
          </a:p>
        </p:txBody>
      </p:sp>
      <p:sp>
        <p:nvSpPr>
          <p:cNvPr id="9" name="TextBox 8"/>
          <p:cNvSpPr txBox="1"/>
          <p:nvPr/>
        </p:nvSpPr>
        <p:spPr>
          <a:xfrm>
            <a:off x="2395728" y="2057400"/>
            <a:ext cx="292608" cy="292388"/>
          </a:xfrm>
          <a:prstGeom prst="rect">
            <a:avLst/>
          </a:prstGeom>
          <a:noFill/>
        </p:spPr>
        <p:txBody>
          <a:bodyPr wrap="square">
            <a:spAutoFit/>
          </a:bodyPr>
          <a:lstStyle/>
          <a:p>
            <a:pPr algn="ctr"/>
            <a:r>
              <a:rPr sz="1300" b="0" i="0">
                <a:solidFill>
                  <a:srgbClr val="3B82F6"/>
                </a:solidFill>
                <a:latin typeface="Calibri"/>
              </a:rPr>
              <a:t>→</a:t>
            </a:r>
          </a:p>
        </p:txBody>
      </p:sp>
      <p:sp>
        <p:nvSpPr>
          <p:cNvPr id="10" name="Rectangle 9"/>
          <p:cNvSpPr/>
          <p:nvPr/>
        </p:nvSpPr>
        <p:spPr>
          <a:xfrm>
            <a:off x="2697479" y="1737360"/>
            <a:ext cx="2011680" cy="1097280"/>
          </a:xfrm>
          <a:prstGeom prst="rect">
            <a:avLst/>
          </a:prstGeom>
          <a:solidFill>
            <a:srgbClr val="0D1829"/>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1" name="TextBox 10"/>
          <p:cNvSpPr txBox="1"/>
          <p:nvPr/>
        </p:nvSpPr>
        <p:spPr>
          <a:xfrm>
            <a:off x="2697479" y="1737360"/>
            <a:ext cx="2011680" cy="692497"/>
          </a:xfrm>
          <a:prstGeom prst="rect">
            <a:avLst/>
          </a:prstGeom>
          <a:noFill/>
        </p:spPr>
        <p:txBody>
          <a:bodyPr wrap="square">
            <a:spAutoFit/>
          </a:bodyPr>
          <a:lstStyle/>
          <a:p>
            <a:pPr algn="ctr"/>
            <a:r>
              <a:rPr sz="1300" b="1" i="0">
                <a:solidFill>
                  <a:srgbClr val="06B6D4"/>
                </a:solidFill>
                <a:latin typeface="Calibri"/>
              </a:rPr>
              <a:t>🔍
pdfplumber
PyPDF2</a:t>
            </a:r>
          </a:p>
        </p:txBody>
      </p:sp>
      <p:sp>
        <p:nvSpPr>
          <p:cNvPr id="12" name="TextBox 11"/>
          <p:cNvSpPr txBox="1"/>
          <p:nvPr/>
        </p:nvSpPr>
        <p:spPr>
          <a:xfrm>
            <a:off x="4727448" y="2057400"/>
            <a:ext cx="292608" cy="292388"/>
          </a:xfrm>
          <a:prstGeom prst="rect">
            <a:avLst/>
          </a:prstGeom>
          <a:noFill/>
        </p:spPr>
        <p:txBody>
          <a:bodyPr wrap="square">
            <a:spAutoFit/>
          </a:bodyPr>
          <a:lstStyle/>
          <a:p>
            <a:pPr algn="ctr"/>
            <a:r>
              <a:rPr sz="1300" b="0" i="0">
                <a:solidFill>
                  <a:srgbClr val="3B82F6"/>
                </a:solidFill>
                <a:latin typeface="Calibri"/>
              </a:rPr>
              <a:t>→</a:t>
            </a:r>
          </a:p>
        </p:txBody>
      </p:sp>
      <p:sp>
        <p:nvSpPr>
          <p:cNvPr id="13" name="Rectangle 12"/>
          <p:cNvSpPr/>
          <p:nvPr/>
        </p:nvSpPr>
        <p:spPr>
          <a:xfrm>
            <a:off x="5029200" y="1737360"/>
            <a:ext cx="2011680" cy="1097280"/>
          </a:xfrm>
          <a:prstGeom prst="rect">
            <a:avLst/>
          </a:prstGeom>
          <a:solidFill>
            <a:srgbClr val="0D1829"/>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4" name="TextBox 13"/>
          <p:cNvSpPr txBox="1"/>
          <p:nvPr/>
        </p:nvSpPr>
        <p:spPr>
          <a:xfrm>
            <a:off x="5029200" y="1737360"/>
            <a:ext cx="2011680" cy="692497"/>
          </a:xfrm>
          <a:prstGeom prst="rect">
            <a:avLst/>
          </a:prstGeom>
          <a:noFill/>
        </p:spPr>
        <p:txBody>
          <a:bodyPr wrap="square">
            <a:spAutoFit/>
          </a:bodyPr>
          <a:lstStyle/>
          <a:p>
            <a:pPr algn="ctr"/>
            <a:r>
              <a:rPr sz="1300" b="1" i="0">
                <a:solidFill>
                  <a:srgbClr val="10B981"/>
                </a:solidFill>
                <a:latin typeface="Calibri"/>
              </a:rPr>
              <a:t>🧠
Gemini
2.5 Flash</a:t>
            </a:r>
          </a:p>
        </p:txBody>
      </p:sp>
      <p:sp>
        <p:nvSpPr>
          <p:cNvPr id="15" name="TextBox 14"/>
          <p:cNvSpPr txBox="1"/>
          <p:nvPr/>
        </p:nvSpPr>
        <p:spPr>
          <a:xfrm>
            <a:off x="7059168" y="2057400"/>
            <a:ext cx="292608" cy="292388"/>
          </a:xfrm>
          <a:prstGeom prst="rect">
            <a:avLst/>
          </a:prstGeom>
          <a:noFill/>
        </p:spPr>
        <p:txBody>
          <a:bodyPr wrap="square">
            <a:spAutoFit/>
          </a:bodyPr>
          <a:lstStyle/>
          <a:p>
            <a:pPr algn="ctr"/>
            <a:r>
              <a:rPr sz="1300" b="0" i="0">
                <a:solidFill>
                  <a:srgbClr val="3B82F6"/>
                </a:solidFill>
                <a:latin typeface="Calibri"/>
              </a:rPr>
              <a:t>→</a:t>
            </a:r>
          </a:p>
        </p:txBody>
      </p:sp>
      <p:sp>
        <p:nvSpPr>
          <p:cNvPr id="16" name="Rectangle 15"/>
          <p:cNvSpPr/>
          <p:nvPr/>
        </p:nvSpPr>
        <p:spPr>
          <a:xfrm>
            <a:off x="7360919" y="1737360"/>
            <a:ext cx="2011680" cy="1097280"/>
          </a:xfrm>
          <a:prstGeom prst="rect">
            <a:avLst/>
          </a:prstGeom>
          <a:solidFill>
            <a:srgbClr val="0D1829"/>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17" name="TextBox 16"/>
          <p:cNvSpPr txBox="1"/>
          <p:nvPr/>
        </p:nvSpPr>
        <p:spPr>
          <a:xfrm>
            <a:off x="7360919" y="1737360"/>
            <a:ext cx="2011680" cy="692497"/>
          </a:xfrm>
          <a:prstGeom prst="rect">
            <a:avLst/>
          </a:prstGeom>
          <a:noFill/>
        </p:spPr>
        <p:txBody>
          <a:bodyPr wrap="square">
            <a:spAutoFit/>
          </a:bodyPr>
          <a:lstStyle/>
          <a:p>
            <a:pPr algn="ctr"/>
            <a:r>
              <a:rPr sz="1300" b="1" i="0">
                <a:solidFill>
                  <a:srgbClr val="F59E0B"/>
                </a:solidFill>
                <a:latin typeface="Calibri"/>
              </a:rPr>
              <a:t>✅
Pydantic
Validation</a:t>
            </a:r>
          </a:p>
        </p:txBody>
      </p:sp>
      <p:sp>
        <p:nvSpPr>
          <p:cNvPr id="18" name="TextBox 17"/>
          <p:cNvSpPr txBox="1"/>
          <p:nvPr/>
        </p:nvSpPr>
        <p:spPr>
          <a:xfrm>
            <a:off x="9390888" y="2057400"/>
            <a:ext cx="292608" cy="292388"/>
          </a:xfrm>
          <a:prstGeom prst="rect">
            <a:avLst/>
          </a:prstGeom>
          <a:noFill/>
        </p:spPr>
        <p:txBody>
          <a:bodyPr wrap="square">
            <a:spAutoFit/>
          </a:bodyPr>
          <a:lstStyle/>
          <a:p>
            <a:pPr algn="ctr"/>
            <a:r>
              <a:rPr sz="1300" b="0" i="0">
                <a:solidFill>
                  <a:srgbClr val="3B82F6"/>
                </a:solidFill>
                <a:latin typeface="Calibri"/>
              </a:rPr>
              <a:t>→</a:t>
            </a:r>
          </a:p>
        </p:txBody>
      </p:sp>
      <p:sp>
        <p:nvSpPr>
          <p:cNvPr id="19" name="Rectangle 18"/>
          <p:cNvSpPr/>
          <p:nvPr/>
        </p:nvSpPr>
        <p:spPr>
          <a:xfrm>
            <a:off x="9692640" y="1737360"/>
            <a:ext cx="2011680" cy="1097280"/>
          </a:xfrm>
          <a:prstGeom prst="rect">
            <a:avLst/>
          </a:prstGeom>
          <a:solidFill>
            <a:srgbClr val="0D1829"/>
          </a:solidFill>
          <a:ln w="1905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0" name="TextBox 19"/>
          <p:cNvSpPr txBox="1"/>
          <p:nvPr/>
        </p:nvSpPr>
        <p:spPr>
          <a:xfrm>
            <a:off x="9692640" y="1737360"/>
            <a:ext cx="2011680" cy="692497"/>
          </a:xfrm>
          <a:prstGeom prst="rect">
            <a:avLst/>
          </a:prstGeom>
          <a:noFill/>
        </p:spPr>
        <p:txBody>
          <a:bodyPr wrap="square">
            <a:spAutoFit/>
          </a:bodyPr>
          <a:lstStyle/>
          <a:p>
            <a:pPr algn="ctr"/>
            <a:r>
              <a:rPr sz="1300" b="1" i="0">
                <a:solidFill>
                  <a:srgbClr val="EF4444"/>
                </a:solidFill>
                <a:latin typeface="Calibri"/>
              </a:rPr>
              <a:t>📊
Streamlit
Dashboard</a:t>
            </a:r>
          </a:p>
        </p:txBody>
      </p:sp>
      <p:sp>
        <p:nvSpPr>
          <p:cNvPr id="21" name="TextBox 20"/>
          <p:cNvSpPr txBox="1"/>
          <p:nvPr/>
        </p:nvSpPr>
        <p:spPr>
          <a:xfrm>
            <a:off x="365760" y="2926080"/>
            <a:ext cx="10972800" cy="292388"/>
          </a:xfrm>
          <a:prstGeom prst="rect">
            <a:avLst/>
          </a:prstGeom>
          <a:noFill/>
        </p:spPr>
        <p:txBody>
          <a:bodyPr wrap="square">
            <a:spAutoFit/>
          </a:bodyPr>
          <a:lstStyle/>
          <a:p>
            <a:pPr algn="l"/>
            <a:r>
              <a:rPr sz="1300" b="1" i="0">
                <a:solidFill>
                  <a:srgbClr val="94A3B8"/>
                </a:solidFill>
                <a:latin typeface="Calibri"/>
              </a:rPr>
              <a:t>What the Output Contains</a:t>
            </a:r>
          </a:p>
        </p:txBody>
      </p:sp>
      <p:sp>
        <p:nvSpPr>
          <p:cNvPr id="22" name="Rectangle 21"/>
          <p:cNvSpPr/>
          <p:nvPr/>
        </p:nvSpPr>
        <p:spPr>
          <a:xfrm>
            <a:off x="365760" y="3337560"/>
            <a:ext cx="3657600" cy="868680"/>
          </a:xfrm>
          <a:prstGeom prst="rect">
            <a:avLst/>
          </a:prstGeom>
          <a:solidFill>
            <a:srgbClr val="0D1829"/>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3" name="TextBox 22"/>
          <p:cNvSpPr txBox="1"/>
          <p:nvPr/>
        </p:nvSpPr>
        <p:spPr>
          <a:xfrm>
            <a:off x="457200" y="3392424"/>
            <a:ext cx="3474720" cy="292388"/>
          </a:xfrm>
          <a:prstGeom prst="rect">
            <a:avLst/>
          </a:prstGeom>
          <a:noFill/>
        </p:spPr>
        <p:txBody>
          <a:bodyPr wrap="square">
            <a:spAutoFit/>
          </a:bodyPr>
          <a:lstStyle/>
          <a:p>
            <a:pPr algn="l"/>
            <a:r>
              <a:rPr sz="1300" b="1" i="0" dirty="0">
                <a:solidFill>
                  <a:srgbClr val="E2E8F0"/>
                </a:solidFill>
                <a:latin typeface="Calibri"/>
              </a:rPr>
              <a:t>ICD-10 Diagnoses</a:t>
            </a:r>
          </a:p>
        </p:txBody>
      </p:sp>
      <p:sp>
        <p:nvSpPr>
          <p:cNvPr id="24" name="TextBox 23"/>
          <p:cNvSpPr txBox="1"/>
          <p:nvPr/>
        </p:nvSpPr>
        <p:spPr>
          <a:xfrm>
            <a:off x="457200" y="3685032"/>
            <a:ext cx="3474720" cy="492443"/>
          </a:xfrm>
          <a:prstGeom prst="rect">
            <a:avLst/>
          </a:prstGeom>
          <a:noFill/>
        </p:spPr>
        <p:txBody>
          <a:bodyPr wrap="square">
            <a:spAutoFit/>
          </a:bodyPr>
          <a:lstStyle/>
          <a:p>
            <a:pPr algn="l"/>
            <a:r>
              <a:rPr sz="1300" b="0" i="0">
                <a:solidFill>
                  <a:srgbClr val="94A3B8"/>
                </a:solidFill>
                <a:latin typeface="Calibri"/>
              </a:rPr>
              <a:t>Every diagnosis with the right billing code and the exact quote from the note that supports it</a:t>
            </a:r>
          </a:p>
        </p:txBody>
      </p:sp>
      <p:sp>
        <p:nvSpPr>
          <p:cNvPr id="25" name="Rectangle 24"/>
          <p:cNvSpPr/>
          <p:nvPr/>
        </p:nvSpPr>
        <p:spPr>
          <a:xfrm>
            <a:off x="4251960" y="3337560"/>
            <a:ext cx="3657600" cy="868680"/>
          </a:xfrm>
          <a:prstGeom prst="rect">
            <a:avLst/>
          </a:prstGeom>
          <a:solidFill>
            <a:srgbClr val="0D1829"/>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6" name="TextBox 25"/>
          <p:cNvSpPr txBox="1"/>
          <p:nvPr/>
        </p:nvSpPr>
        <p:spPr>
          <a:xfrm>
            <a:off x="4343400" y="3392424"/>
            <a:ext cx="3474720" cy="292388"/>
          </a:xfrm>
          <a:prstGeom prst="rect">
            <a:avLst/>
          </a:prstGeom>
          <a:noFill/>
        </p:spPr>
        <p:txBody>
          <a:bodyPr wrap="square">
            <a:spAutoFit/>
          </a:bodyPr>
          <a:lstStyle/>
          <a:p>
            <a:pPr algn="l"/>
            <a:r>
              <a:rPr sz="1300" b="1" i="0">
                <a:solidFill>
                  <a:srgbClr val="E2E8F0"/>
                </a:solidFill>
                <a:latin typeface="Calibri"/>
              </a:rPr>
              <a:t>Medication List</a:t>
            </a:r>
          </a:p>
        </p:txBody>
      </p:sp>
      <p:sp>
        <p:nvSpPr>
          <p:cNvPr id="27" name="TextBox 26"/>
          <p:cNvSpPr txBox="1"/>
          <p:nvPr/>
        </p:nvSpPr>
        <p:spPr>
          <a:xfrm>
            <a:off x="4343400" y="3685032"/>
            <a:ext cx="3474720" cy="492443"/>
          </a:xfrm>
          <a:prstGeom prst="rect">
            <a:avLst/>
          </a:prstGeom>
          <a:noFill/>
        </p:spPr>
        <p:txBody>
          <a:bodyPr wrap="square">
            <a:spAutoFit/>
          </a:bodyPr>
          <a:lstStyle/>
          <a:p>
            <a:pPr algn="l"/>
            <a:r>
              <a:rPr sz="1300" b="0" i="0">
                <a:solidFill>
                  <a:srgbClr val="94A3B8"/>
                </a:solidFill>
                <a:latin typeface="Calibri"/>
              </a:rPr>
              <a:t>All drugs, doses, and what each one is prescribed for</a:t>
            </a:r>
          </a:p>
        </p:txBody>
      </p:sp>
      <p:sp>
        <p:nvSpPr>
          <p:cNvPr id="28" name="Rectangle 27"/>
          <p:cNvSpPr/>
          <p:nvPr/>
        </p:nvSpPr>
        <p:spPr>
          <a:xfrm>
            <a:off x="8138160" y="3337560"/>
            <a:ext cx="3657600" cy="868680"/>
          </a:xfrm>
          <a:prstGeom prst="rect">
            <a:avLst/>
          </a:prstGeom>
          <a:solidFill>
            <a:srgbClr val="0D1829"/>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29" name="TextBox 28"/>
          <p:cNvSpPr txBox="1"/>
          <p:nvPr/>
        </p:nvSpPr>
        <p:spPr>
          <a:xfrm>
            <a:off x="8229600" y="3392424"/>
            <a:ext cx="3474720" cy="292388"/>
          </a:xfrm>
          <a:prstGeom prst="rect">
            <a:avLst/>
          </a:prstGeom>
          <a:noFill/>
        </p:spPr>
        <p:txBody>
          <a:bodyPr wrap="square">
            <a:spAutoFit/>
          </a:bodyPr>
          <a:lstStyle/>
          <a:p>
            <a:pPr algn="l"/>
            <a:r>
              <a:rPr sz="1300" b="1" i="0">
                <a:solidFill>
                  <a:srgbClr val="E2E8F0"/>
                </a:solidFill>
                <a:latin typeface="Calibri"/>
              </a:rPr>
              <a:t>Anomaly Flags</a:t>
            </a:r>
          </a:p>
        </p:txBody>
      </p:sp>
      <p:sp>
        <p:nvSpPr>
          <p:cNvPr id="30" name="TextBox 29"/>
          <p:cNvSpPr txBox="1"/>
          <p:nvPr/>
        </p:nvSpPr>
        <p:spPr>
          <a:xfrm>
            <a:off x="8229600" y="3685032"/>
            <a:ext cx="3474720" cy="492443"/>
          </a:xfrm>
          <a:prstGeom prst="rect">
            <a:avLst/>
          </a:prstGeom>
          <a:noFill/>
        </p:spPr>
        <p:txBody>
          <a:bodyPr wrap="square">
            <a:spAutoFit/>
          </a:bodyPr>
          <a:lstStyle/>
          <a:p>
            <a:pPr algn="l"/>
            <a:r>
              <a:rPr sz="1300" b="0" i="0">
                <a:solidFill>
                  <a:srgbClr val="94A3B8"/>
                </a:solidFill>
                <a:latin typeface="Calibri"/>
              </a:rPr>
              <a:t>Coding gaps, missed HCC diagnoses, and safety concerns flagged for human review</a:t>
            </a:r>
          </a:p>
        </p:txBody>
      </p:sp>
      <p:sp>
        <p:nvSpPr>
          <p:cNvPr id="31" name="Rectangle 30"/>
          <p:cNvSpPr/>
          <p:nvPr/>
        </p:nvSpPr>
        <p:spPr>
          <a:xfrm>
            <a:off x="365760" y="4343400"/>
            <a:ext cx="3657600" cy="868680"/>
          </a:xfrm>
          <a:prstGeom prst="rect">
            <a:avLst/>
          </a:prstGeom>
          <a:solidFill>
            <a:srgbClr val="0D1829"/>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2" name="TextBox 31"/>
          <p:cNvSpPr txBox="1"/>
          <p:nvPr/>
        </p:nvSpPr>
        <p:spPr>
          <a:xfrm>
            <a:off x="457200" y="4398264"/>
            <a:ext cx="3474720" cy="292388"/>
          </a:xfrm>
          <a:prstGeom prst="rect">
            <a:avLst/>
          </a:prstGeom>
          <a:noFill/>
        </p:spPr>
        <p:txBody>
          <a:bodyPr wrap="square">
            <a:spAutoFit/>
          </a:bodyPr>
          <a:lstStyle/>
          <a:p>
            <a:pPr algn="l"/>
            <a:r>
              <a:rPr sz="1300" b="1" i="0">
                <a:solidFill>
                  <a:srgbClr val="E2E8F0"/>
                </a:solidFill>
                <a:latin typeface="Calibri"/>
              </a:rPr>
              <a:t>HCC Commentary</a:t>
            </a:r>
          </a:p>
        </p:txBody>
      </p:sp>
      <p:sp>
        <p:nvSpPr>
          <p:cNvPr id="33" name="TextBox 32"/>
          <p:cNvSpPr txBox="1"/>
          <p:nvPr/>
        </p:nvSpPr>
        <p:spPr>
          <a:xfrm>
            <a:off x="457200" y="4690872"/>
            <a:ext cx="3474720" cy="492443"/>
          </a:xfrm>
          <a:prstGeom prst="rect">
            <a:avLst/>
          </a:prstGeom>
          <a:noFill/>
        </p:spPr>
        <p:txBody>
          <a:bodyPr wrap="square">
            <a:spAutoFit/>
          </a:bodyPr>
          <a:lstStyle/>
          <a:p>
            <a:pPr algn="l"/>
            <a:r>
              <a:rPr sz="1300" b="0" i="0">
                <a:solidFill>
                  <a:srgbClr val="94A3B8"/>
                </a:solidFill>
                <a:latin typeface="Calibri"/>
              </a:rPr>
              <a:t>Which diagnoses affect the patient's risk score and why it matters</a:t>
            </a:r>
          </a:p>
        </p:txBody>
      </p:sp>
      <p:sp>
        <p:nvSpPr>
          <p:cNvPr id="34" name="Rectangle 33"/>
          <p:cNvSpPr/>
          <p:nvPr/>
        </p:nvSpPr>
        <p:spPr>
          <a:xfrm>
            <a:off x="4251960" y="4343400"/>
            <a:ext cx="3657600" cy="868680"/>
          </a:xfrm>
          <a:prstGeom prst="rect">
            <a:avLst/>
          </a:prstGeom>
          <a:solidFill>
            <a:srgbClr val="0D1829"/>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5" name="TextBox 34"/>
          <p:cNvSpPr txBox="1"/>
          <p:nvPr/>
        </p:nvSpPr>
        <p:spPr>
          <a:xfrm>
            <a:off x="4343400" y="4398264"/>
            <a:ext cx="3474720" cy="292388"/>
          </a:xfrm>
          <a:prstGeom prst="rect">
            <a:avLst/>
          </a:prstGeom>
          <a:noFill/>
        </p:spPr>
        <p:txBody>
          <a:bodyPr wrap="square">
            <a:spAutoFit/>
          </a:bodyPr>
          <a:lstStyle/>
          <a:p>
            <a:pPr algn="l"/>
            <a:r>
              <a:rPr sz="1300" b="1" i="0">
                <a:solidFill>
                  <a:srgbClr val="E2E8F0"/>
                </a:solidFill>
                <a:latin typeface="Calibri"/>
              </a:rPr>
              <a:t>Export Options</a:t>
            </a:r>
          </a:p>
        </p:txBody>
      </p:sp>
      <p:sp>
        <p:nvSpPr>
          <p:cNvPr id="36" name="TextBox 35"/>
          <p:cNvSpPr txBox="1"/>
          <p:nvPr/>
        </p:nvSpPr>
        <p:spPr>
          <a:xfrm>
            <a:off x="4343400" y="4690872"/>
            <a:ext cx="3474720" cy="492443"/>
          </a:xfrm>
          <a:prstGeom prst="rect">
            <a:avLst/>
          </a:prstGeom>
          <a:noFill/>
        </p:spPr>
        <p:txBody>
          <a:bodyPr wrap="square">
            <a:spAutoFit/>
          </a:bodyPr>
          <a:lstStyle/>
          <a:p>
            <a:pPr algn="l"/>
            <a:r>
              <a:rPr sz="1300" b="0" i="0">
                <a:solidFill>
                  <a:srgbClr val="94A3B8"/>
                </a:solidFill>
                <a:latin typeface="Calibri"/>
              </a:rPr>
              <a:t>Download as JSON for systems integration or Markdown for documentation</a:t>
            </a:r>
          </a:p>
        </p:txBody>
      </p:sp>
      <p:sp>
        <p:nvSpPr>
          <p:cNvPr id="37" name="Rectangle 36"/>
          <p:cNvSpPr/>
          <p:nvPr/>
        </p:nvSpPr>
        <p:spPr>
          <a:xfrm>
            <a:off x="365760" y="6035040"/>
            <a:ext cx="11430000" cy="502920"/>
          </a:xfrm>
          <a:prstGeom prst="rect">
            <a:avLst/>
          </a:prstGeom>
          <a:solidFill>
            <a:srgbClr val="071530"/>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300"/>
          </a:p>
        </p:txBody>
      </p:sp>
      <p:sp>
        <p:nvSpPr>
          <p:cNvPr id="38" name="TextBox 37"/>
          <p:cNvSpPr txBox="1"/>
          <p:nvPr/>
        </p:nvSpPr>
        <p:spPr>
          <a:xfrm>
            <a:off x="457200" y="6080760"/>
            <a:ext cx="11247120" cy="292388"/>
          </a:xfrm>
          <a:prstGeom prst="rect">
            <a:avLst/>
          </a:prstGeom>
          <a:noFill/>
        </p:spPr>
        <p:txBody>
          <a:bodyPr wrap="square">
            <a:spAutoFit/>
          </a:bodyPr>
          <a:lstStyle/>
          <a:p>
            <a:pPr algn="ctr"/>
            <a:r>
              <a:rPr sz="1300" b="0" i="0">
                <a:solidFill>
                  <a:srgbClr val="94A3B8"/>
                </a:solidFill>
                <a:latin typeface="Calibri"/>
              </a:rPr>
              <a:t>Stack: Python  -  Streamlit  -  Google Gemini 2.5 Flash  -  pdfplumber  -  Pydantic v2  -  Tenacity  -  Free Tier APIs Only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D1A"/>
        </a:solidFill>
        <a:effectLst/>
      </p:bgPr>
    </p:bg>
    <p:spTree>
      <p:nvGrpSpPr>
        <p:cNvPr id="1" name=""/>
        <p:cNvGrpSpPr/>
        <p:nvPr/>
      </p:nvGrpSpPr>
      <p:grpSpPr>
        <a:xfrm>
          <a:off x="0" y="0"/>
          <a:ext cx="0" cy="0"/>
          <a:chOff x="0" y="0"/>
          <a:chExt cx="0" cy="0"/>
        </a:xfrm>
      </p:grpSpPr>
      <p:sp>
        <p:nvSpPr>
          <p:cNvPr id="2" name="Rectangle 1"/>
          <p:cNvSpPr/>
          <p:nvPr/>
        </p:nvSpPr>
        <p:spPr>
          <a:xfrm>
            <a:off x="0" y="0"/>
            <a:ext cx="73152" cy="685800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65760" y="1371600"/>
            <a:ext cx="10972800" cy="640080"/>
          </a:xfrm>
          <a:prstGeom prst="rect">
            <a:avLst/>
          </a:prstGeom>
          <a:noFill/>
        </p:spPr>
        <p:txBody>
          <a:bodyPr wrap="square">
            <a:spAutoFit/>
          </a:bodyPr>
          <a:lstStyle/>
          <a:p>
            <a:pPr algn="ctr"/>
            <a:r>
              <a:rPr sz="4200" b="1" i="0">
                <a:solidFill>
                  <a:srgbClr val="E2E8F0"/>
                </a:solidFill>
                <a:latin typeface="Calibri"/>
              </a:rPr>
              <a:t>THANK YOU</a:t>
            </a:r>
          </a:p>
        </p:txBody>
      </p:sp>
      <p:sp>
        <p:nvSpPr>
          <p:cNvPr id="4" name="Rectangle 3"/>
          <p:cNvSpPr/>
          <p:nvPr/>
        </p:nvSpPr>
        <p:spPr>
          <a:xfrm>
            <a:off x="2286000" y="2194560"/>
            <a:ext cx="758952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2377440"/>
            <a:ext cx="10972800" cy="822960"/>
          </a:xfrm>
          <a:prstGeom prst="rect">
            <a:avLst/>
          </a:prstGeom>
          <a:noFill/>
        </p:spPr>
        <p:txBody>
          <a:bodyPr wrap="square">
            <a:spAutoFit/>
          </a:bodyPr>
          <a:lstStyle/>
          <a:p>
            <a:pPr algn="ctr"/>
            <a:r>
              <a:rPr sz="1600" b="0" i="1">
                <a:solidFill>
                  <a:srgbClr val="94A3B8"/>
                </a:solidFill>
                <a:latin typeface="Calibri"/>
              </a:rPr>
              <a:t>Clinical NLP is not a future ambition -
it is a present-day opportunity that is ready to be built.</a:t>
            </a:r>
          </a:p>
        </p:txBody>
      </p:sp>
      <p:sp>
        <p:nvSpPr>
          <p:cNvPr id="6" name="TextBox 5"/>
          <p:cNvSpPr txBox="1"/>
          <p:nvPr/>
        </p:nvSpPr>
        <p:spPr>
          <a:xfrm>
            <a:off x="1828800" y="3383280"/>
            <a:ext cx="8229600" cy="411480"/>
          </a:xfrm>
          <a:prstGeom prst="rect">
            <a:avLst/>
          </a:prstGeom>
          <a:noFill/>
        </p:spPr>
        <p:txBody>
          <a:bodyPr wrap="square">
            <a:spAutoFit/>
          </a:bodyPr>
          <a:lstStyle/>
          <a:p>
            <a:pPr algn="ctr"/>
            <a:r>
              <a:rPr sz="1200" b="0" i="0">
                <a:solidFill>
                  <a:srgbClr val="94A3B8"/>
                </a:solidFill>
                <a:latin typeface="Calibri"/>
              </a:rPr>
              <a:t>80% of clinical data is in doctor notes - NLP unlocks it</a:t>
            </a:r>
          </a:p>
        </p:txBody>
      </p:sp>
      <p:sp>
        <p:nvSpPr>
          <p:cNvPr id="7" name="TextBox 6"/>
          <p:cNvSpPr txBox="1"/>
          <p:nvPr/>
        </p:nvSpPr>
        <p:spPr>
          <a:xfrm>
            <a:off x="1828800" y="3886200"/>
            <a:ext cx="8229600" cy="411480"/>
          </a:xfrm>
          <a:prstGeom prst="rect">
            <a:avLst/>
          </a:prstGeom>
          <a:noFill/>
        </p:spPr>
        <p:txBody>
          <a:bodyPr wrap="square">
            <a:spAutoFit/>
          </a:bodyPr>
          <a:lstStyle/>
          <a:p>
            <a:pPr algn="ctr"/>
            <a:r>
              <a:rPr sz="1200" b="0" i="0">
                <a:solidFill>
                  <a:srgbClr val="94A3B8"/>
                </a:solidFill>
                <a:latin typeface="Calibri"/>
              </a:rPr>
              <a:t>LLMs can extract ICD-10 codes from notes without task-specific training</a:t>
            </a:r>
          </a:p>
        </p:txBody>
      </p:sp>
      <p:sp>
        <p:nvSpPr>
          <p:cNvPr id="8" name="TextBox 7"/>
          <p:cNvSpPr txBox="1"/>
          <p:nvPr/>
        </p:nvSpPr>
        <p:spPr>
          <a:xfrm>
            <a:off x="1828800" y="4389120"/>
            <a:ext cx="8229600" cy="411480"/>
          </a:xfrm>
          <a:prstGeom prst="rect">
            <a:avLst/>
          </a:prstGeom>
          <a:noFill/>
        </p:spPr>
        <p:txBody>
          <a:bodyPr wrap="square">
            <a:spAutoFit/>
          </a:bodyPr>
          <a:lstStyle/>
          <a:p>
            <a:pPr algn="ctr"/>
            <a:r>
              <a:rPr sz="1200" b="0" i="0">
                <a:solidFill>
                  <a:srgbClr val="94A3B8"/>
                </a:solidFill>
                <a:latin typeface="Calibri"/>
              </a:rPr>
              <a:t>Hybrid AI + Human review is the only production-safe model today</a:t>
            </a:r>
          </a:p>
        </p:txBody>
      </p:sp>
      <p:sp>
        <p:nvSpPr>
          <p:cNvPr id="9" name="TextBox 8"/>
          <p:cNvSpPr txBox="1"/>
          <p:nvPr/>
        </p:nvSpPr>
        <p:spPr>
          <a:xfrm>
            <a:off x="1828800" y="4892040"/>
            <a:ext cx="8229600" cy="411480"/>
          </a:xfrm>
          <a:prstGeom prst="rect">
            <a:avLst/>
          </a:prstGeom>
          <a:noFill/>
        </p:spPr>
        <p:txBody>
          <a:bodyPr wrap="square">
            <a:spAutoFit/>
          </a:bodyPr>
          <a:lstStyle/>
          <a:p>
            <a:pPr algn="ctr"/>
            <a:r>
              <a:rPr sz="1200" b="0" i="0">
                <a:solidFill>
                  <a:srgbClr val="94A3B8"/>
                </a:solidFill>
                <a:latin typeface="Calibri"/>
              </a:rPr>
              <a:t>HCC gap identification is Cotiviti's clearest immediate opportunity</a:t>
            </a:r>
          </a:p>
        </p:txBody>
      </p:sp>
      <p:sp>
        <p:nvSpPr>
          <p:cNvPr id="10" name="Rectangle 9"/>
          <p:cNvSpPr/>
          <p:nvPr/>
        </p:nvSpPr>
        <p:spPr>
          <a:xfrm>
            <a:off x="365760" y="5669280"/>
            <a:ext cx="11430000" cy="731520"/>
          </a:xfrm>
          <a:prstGeom prst="rect">
            <a:avLst/>
          </a:prstGeom>
          <a:solidFill>
            <a:srgbClr val="0D1829"/>
          </a:solidFill>
          <a:ln w="63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00" y="5760720"/>
            <a:ext cx="11247120" cy="457200"/>
          </a:xfrm>
          <a:prstGeom prst="rect">
            <a:avLst/>
          </a:prstGeom>
          <a:noFill/>
        </p:spPr>
        <p:txBody>
          <a:bodyPr wrap="square">
            <a:spAutoFit/>
          </a:bodyPr>
          <a:lstStyle/>
          <a:p>
            <a:pPr algn="ctr"/>
            <a:r>
              <a:rPr sz="1100" b="0" i="0">
                <a:solidFill>
                  <a:srgbClr val="475569"/>
                </a:solidFill>
                <a:latin typeface="Calibri"/>
              </a:rPr>
              <a:t>Questions?   -   POC Demo Available   -   Report &amp; Slides Submitted</a:t>
            </a:r>
          </a:p>
        </p:txBody>
      </p:sp>
      <p:sp>
        <p:nvSpPr>
          <p:cNvPr id="12" name="TextBox 11"/>
          <p:cNvSpPr txBox="1"/>
          <p:nvPr/>
        </p:nvSpPr>
        <p:spPr>
          <a:xfrm>
            <a:off x="320040" y="6035040"/>
            <a:ext cx="11247120" cy="230832"/>
          </a:xfrm>
          <a:prstGeom prst="rect">
            <a:avLst/>
          </a:prstGeom>
          <a:noFill/>
        </p:spPr>
        <p:txBody>
          <a:bodyPr wrap="square">
            <a:spAutoFit/>
          </a:bodyPr>
          <a:lstStyle/>
          <a:p>
            <a:pPr algn="ctr"/>
            <a:r>
              <a:rPr lang="en-IN" sz="900" dirty="0">
                <a:solidFill>
                  <a:srgbClr val="475569"/>
                </a:solidFill>
                <a:latin typeface="Calibri"/>
              </a:rPr>
              <a:t>Nanda Kishore Nellutla</a:t>
            </a:r>
            <a:r>
              <a:rPr sz="900" b="0" i="0" dirty="0">
                <a:solidFill>
                  <a:srgbClr val="475569"/>
                </a:solidFill>
                <a:latin typeface="Calibri"/>
              </a:rPr>
              <a:t>  -  Cotiviti Intern Assessment  -  July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30</TotalTime>
  <Words>1647</Words>
  <Application>Microsoft Office PowerPoint</Application>
  <PresentationFormat>Custom</PresentationFormat>
  <Paragraphs>168</Paragraphs>
  <Slides>10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Nandakishore Nellutla</cp:lastModifiedBy>
  <cp:revision>1</cp:revision>
  <dcterms:created xsi:type="dcterms:W3CDTF">2013-01-27T09:14:16Z</dcterms:created>
  <dcterms:modified xsi:type="dcterms:W3CDTF">2026-07-04T10:58:57Z</dcterms:modified>
  <cp:category/>
</cp:coreProperties>
</file>